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
  </p:notesMasterIdLst>
  <p:sldIdLst>
    <p:sldId id="258"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9FC"/>
    <a:srgbClr val="F867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94681"/>
  </p:normalViewPr>
  <p:slideViewPr>
    <p:cSldViewPr snapToGrid="0">
      <p:cViewPr>
        <p:scale>
          <a:sx n="25" d="100"/>
          <a:sy n="25" d="100"/>
        </p:scale>
        <p:origin x="1358" y="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9781CB-E638-AC4E-B8EC-984A76828676}" type="datetimeFigureOut">
              <a:rPr lang="en-US" smtClean="0"/>
              <a:t>10/30/2026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FC2D9-C6F9-D446-8B89-26818FEE0341}" type="slidenum">
              <a:rPr lang="en-US" smtClean="0"/>
              <a:t>‹#›</a:t>
            </a:fld>
            <a:endParaRPr lang="en-US"/>
          </a:p>
        </p:txBody>
      </p:sp>
    </p:spTree>
    <p:extLst>
      <p:ext uri="{BB962C8B-B14F-4D97-AF65-F5344CB8AC3E}">
        <p14:creationId xmlns:p14="http://schemas.microsoft.com/office/powerpoint/2010/main" val="1863102731"/>
      </p:ext>
    </p:extLst>
  </p:cSld>
  <p:clrMap bg1="lt1" tx1="dk1" bg2="lt2" tx2="dk2" accent1="accent1" accent2="accent2" accent3="accent3" accent4="accent4" accent5="accent5" accent6="accent6" hlink="hlink" folHlink="folHlink"/>
  <p:notesStyle>
    <a:lvl1pPr marL="0" algn="l" defTabSz="3507730" rtl="0" eaLnBrk="1" latinLnBrk="0" hangingPunct="1">
      <a:defRPr sz="4603" kern="1200">
        <a:solidFill>
          <a:schemeClr val="tx1"/>
        </a:solidFill>
        <a:latin typeface="+mn-lt"/>
        <a:ea typeface="+mn-ea"/>
        <a:cs typeface="+mn-cs"/>
      </a:defRPr>
    </a:lvl1pPr>
    <a:lvl2pPr marL="1753865" algn="l" defTabSz="3507730" rtl="0" eaLnBrk="1" latinLnBrk="0" hangingPunct="1">
      <a:defRPr sz="4603" kern="1200">
        <a:solidFill>
          <a:schemeClr val="tx1"/>
        </a:solidFill>
        <a:latin typeface="+mn-lt"/>
        <a:ea typeface="+mn-ea"/>
        <a:cs typeface="+mn-cs"/>
      </a:defRPr>
    </a:lvl2pPr>
    <a:lvl3pPr marL="3507730" algn="l" defTabSz="3507730" rtl="0" eaLnBrk="1" latinLnBrk="0" hangingPunct="1">
      <a:defRPr sz="4603" kern="1200">
        <a:solidFill>
          <a:schemeClr val="tx1"/>
        </a:solidFill>
        <a:latin typeface="+mn-lt"/>
        <a:ea typeface="+mn-ea"/>
        <a:cs typeface="+mn-cs"/>
      </a:defRPr>
    </a:lvl3pPr>
    <a:lvl4pPr marL="5261595" algn="l" defTabSz="3507730" rtl="0" eaLnBrk="1" latinLnBrk="0" hangingPunct="1">
      <a:defRPr sz="4603" kern="1200">
        <a:solidFill>
          <a:schemeClr val="tx1"/>
        </a:solidFill>
        <a:latin typeface="+mn-lt"/>
        <a:ea typeface="+mn-ea"/>
        <a:cs typeface="+mn-cs"/>
      </a:defRPr>
    </a:lvl4pPr>
    <a:lvl5pPr marL="7015460" algn="l" defTabSz="3507730" rtl="0" eaLnBrk="1" latinLnBrk="0" hangingPunct="1">
      <a:defRPr sz="4603" kern="1200">
        <a:solidFill>
          <a:schemeClr val="tx1"/>
        </a:solidFill>
        <a:latin typeface="+mn-lt"/>
        <a:ea typeface="+mn-ea"/>
        <a:cs typeface="+mn-cs"/>
      </a:defRPr>
    </a:lvl5pPr>
    <a:lvl6pPr marL="8769325" algn="l" defTabSz="3507730" rtl="0" eaLnBrk="1" latinLnBrk="0" hangingPunct="1">
      <a:defRPr sz="4603" kern="1200">
        <a:solidFill>
          <a:schemeClr val="tx1"/>
        </a:solidFill>
        <a:latin typeface="+mn-lt"/>
        <a:ea typeface="+mn-ea"/>
        <a:cs typeface="+mn-cs"/>
      </a:defRPr>
    </a:lvl6pPr>
    <a:lvl7pPr marL="10523190" algn="l" defTabSz="3507730" rtl="0" eaLnBrk="1" latinLnBrk="0" hangingPunct="1">
      <a:defRPr sz="4603" kern="1200">
        <a:solidFill>
          <a:schemeClr val="tx1"/>
        </a:solidFill>
        <a:latin typeface="+mn-lt"/>
        <a:ea typeface="+mn-ea"/>
        <a:cs typeface="+mn-cs"/>
      </a:defRPr>
    </a:lvl7pPr>
    <a:lvl8pPr marL="12277054" algn="l" defTabSz="3507730" rtl="0" eaLnBrk="1" latinLnBrk="0" hangingPunct="1">
      <a:defRPr sz="4603" kern="1200">
        <a:solidFill>
          <a:schemeClr val="tx1"/>
        </a:solidFill>
        <a:latin typeface="+mn-lt"/>
        <a:ea typeface="+mn-ea"/>
        <a:cs typeface="+mn-cs"/>
      </a:defRPr>
    </a:lvl8pPr>
    <a:lvl9pPr marL="14030919" algn="l" defTabSz="3507730" rtl="0" eaLnBrk="1" latinLnBrk="0" hangingPunct="1">
      <a:defRPr sz="4603"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00CMx140CM template">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23691" y="7585962"/>
            <a:ext cx="14299153" cy="897605"/>
          </a:xfrm>
          <a:prstGeom prst="rect">
            <a:avLst/>
          </a:prstGeom>
        </p:spPr>
        <p:txBody>
          <a:bodyPr wrap="square" lIns="223877" tIns="223877" rIns="223877" bIns="223877">
            <a:spAutoFit/>
          </a:bodyPr>
          <a:lstStyle>
            <a:lvl1pPr marL="0" indent="0">
              <a:buNone/>
              <a:defRPr sz="2800">
                <a:solidFill>
                  <a:schemeClr val="accent5">
                    <a:lumMod val="50000"/>
                  </a:schemeClr>
                </a:solidFill>
                <a:latin typeface="Times New Roman" panose="02020603050405020304" pitchFamily="18" charset="0"/>
                <a:cs typeface="Times New Roman" panose="02020603050405020304" pitchFamily="18" charset="0"/>
              </a:defRPr>
            </a:lvl1pPr>
            <a:lvl2pPr marL="1455191" indent="-559688">
              <a:defRPr sz="2500">
                <a:latin typeface="Trebuchet MS" pitchFamily="34" charset="0"/>
              </a:defRPr>
            </a:lvl2pPr>
            <a:lvl3pPr marL="2014879" indent="-559688">
              <a:defRPr sz="2500">
                <a:latin typeface="Trebuchet MS" pitchFamily="34" charset="0"/>
              </a:defRPr>
            </a:lvl3pPr>
            <a:lvl4pPr marL="2630537" indent="-615658">
              <a:defRPr sz="2500">
                <a:latin typeface="Trebuchet MS" pitchFamily="34" charset="0"/>
              </a:defRPr>
            </a:lvl4pPr>
            <a:lvl5pPr marL="3078288" indent="-447751">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636213" y="6884938"/>
            <a:ext cx="14287866"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636211" y="18518420"/>
            <a:ext cx="14291358"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5353328" y="6884938"/>
            <a:ext cx="14287682"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r>
              <a:rPr lang="en-US" dirty="0"/>
              <a:t>(click to edit) Proposed Methodology</a:t>
            </a:r>
          </a:p>
        </p:txBody>
      </p:sp>
      <p:sp>
        <p:nvSpPr>
          <p:cNvPr id="26" name="Text Placeholder 3"/>
          <p:cNvSpPr>
            <a:spLocks noGrp="1"/>
          </p:cNvSpPr>
          <p:nvPr>
            <p:ph type="body" sz="quarter" idx="26" hasCustomPrompt="1"/>
          </p:nvPr>
        </p:nvSpPr>
        <p:spPr>
          <a:xfrm>
            <a:off x="15353328" y="7585962"/>
            <a:ext cx="14287682" cy="897605"/>
          </a:xfrm>
          <a:prstGeom prst="rect">
            <a:avLst/>
          </a:prstGeom>
        </p:spPr>
        <p:txBody>
          <a:bodyPr wrap="square" lIns="223877" tIns="223877" rIns="223877" bIns="223877">
            <a:spAutoFit/>
          </a:bodyPr>
          <a:lstStyle>
            <a:lvl1pPr marL="0" indent="0">
              <a:buNone/>
              <a:defRPr sz="2800">
                <a:solidFill>
                  <a:schemeClr val="accent5">
                    <a:lumMod val="50000"/>
                  </a:schemeClr>
                </a:solidFill>
                <a:latin typeface="Times New Roman" panose="02020603050405020304" pitchFamily="18" charset="0"/>
                <a:cs typeface="Times New Roman" panose="02020603050405020304" pitchFamily="18" charset="0"/>
              </a:defRPr>
            </a:lvl1pPr>
            <a:lvl2pPr marL="1455191" indent="-559688">
              <a:defRPr sz="2500">
                <a:latin typeface="Trebuchet MS" pitchFamily="34" charset="0"/>
              </a:defRPr>
            </a:lvl2pPr>
            <a:lvl3pPr marL="2014879" indent="-559688">
              <a:defRPr sz="2500">
                <a:latin typeface="Trebuchet MS" pitchFamily="34" charset="0"/>
              </a:defRPr>
            </a:lvl3pPr>
            <a:lvl4pPr marL="2630537" indent="-615658">
              <a:defRPr sz="2500">
                <a:latin typeface="Trebuchet MS" pitchFamily="34" charset="0"/>
              </a:defRPr>
            </a:lvl4pPr>
            <a:lvl5pPr marL="3078288" indent="-447751">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629167" y="31830857"/>
            <a:ext cx="14283756"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623691" y="32586238"/>
            <a:ext cx="14289232" cy="897605"/>
          </a:xfrm>
          <a:prstGeom prst="rect">
            <a:avLst/>
          </a:prstGeom>
        </p:spPr>
        <p:txBody>
          <a:bodyPr wrap="square" lIns="223877" tIns="223877" rIns="223877" bIns="223877">
            <a:spAutoFit/>
          </a:bodyPr>
          <a:lstStyle>
            <a:lvl1pPr marL="0" indent="0">
              <a:buNone/>
              <a:defRPr sz="2800">
                <a:solidFill>
                  <a:schemeClr val="accent5">
                    <a:lumMod val="50000"/>
                  </a:schemeClr>
                </a:solidFill>
                <a:latin typeface="Times New Roman" panose="02020603050405020304" pitchFamily="18" charset="0"/>
                <a:cs typeface="Times New Roman" panose="02020603050405020304" pitchFamily="18" charset="0"/>
              </a:defRPr>
            </a:lvl1pPr>
            <a:lvl2pPr marL="1455191" indent="-559688">
              <a:defRPr sz="2500">
                <a:latin typeface="Trebuchet MS" pitchFamily="34" charset="0"/>
              </a:defRPr>
            </a:lvl2pPr>
            <a:lvl3pPr marL="2014879" indent="-559688">
              <a:defRPr sz="2500">
                <a:latin typeface="Trebuchet MS" pitchFamily="34" charset="0"/>
              </a:defRPr>
            </a:lvl3pPr>
            <a:lvl4pPr marL="2630537" indent="-615658">
              <a:defRPr sz="2500">
                <a:latin typeface="Trebuchet MS" pitchFamily="34" charset="0"/>
              </a:defRPr>
            </a:lvl4pPr>
            <a:lvl5pPr marL="3078288" indent="-447751">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5364404" y="36583483"/>
            <a:ext cx="14276605"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r>
              <a:rPr lang="en-US" dirty="0"/>
              <a:t>(click to edit) Team Details</a:t>
            </a:r>
          </a:p>
        </p:txBody>
      </p:sp>
      <p:sp>
        <p:nvSpPr>
          <p:cNvPr id="30" name="Text Placeholder 3"/>
          <p:cNvSpPr>
            <a:spLocks noGrp="1"/>
          </p:cNvSpPr>
          <p:nvPr>
            <p:ph type="body" sz="quarter" idx="30" hasCustomPrompt="1"/>
          </p:nvPr>
        </p:nvSpPr>
        <p:spPr>
          <a:xfrm>
            <a:off x="15353329" y="37358864"/>
            <a:ext cx="14283756" cy="897605"/>
          </a:xfrm>
          <a:prstGeom prst="rect">
            <a:avLst/>
          </a:prstGeom>
        </p:spPr>
        <p:txBody>
          <a:bodyPr wrap="square" lIns="223877" tIns="223877" rIns="223877" bIns="223877">
            <a:spAutoFit/>
          </a:bodyPr>
          <a:lstStyle>
            <a:lvl1pPr marL="0" indent="0">
              <a:buNone/>
              <a:defRPr sz="2800">
                <a:solidFill>
                  <a:schemeClr val="accent5">
                    <a:lumMod val="50000"/>
                  </a:schemeClr>
                </a:solidFill>
                <a:latin typeface="Times New Roman" panose="02020603050405020304" pitchFamily="18" charset="0"/>
                <a:cs typeface="Times New Roman" panose="02020603050405020304" pitchFamily="18" charset="0"/>
              </a:defRPr>
            </a:lvl1pPr>
            <a:lvl2pPr marL="1455191" indent="-559688">
              <a:defRPr sz="2500">
                <a:latin typeface="Trebuchet MS" pitchFamily="34" charset="0"/>
              </a:defRPr>
            </a:lvl2pPr>
            <a:lvl3pPr marL="2014879" indent="-559688">
              <a:defRPr sz="2500">
                <a:latin typeface="Trebuchet MS" pitchFamily="34" charset="0"/>
              </a:defRPr>
            </a:lvl3pPr>
            <a:lvl4pPr marL="2630537" indent="-615658">
              <a:defRPr sz="2500">
                <a:latin typeface="Trebuchet MS" pitchFamily="34" charset="0"/>
              </a:defRPr>
            </a:lvl4pPr>
            <a:lvl5pPr marL="3078288" indent="-447751">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623691" y="19275662"/>
            <a:ext cx="14300387" cy="897605"/>
          </a:xfrm>
          <a:prstGeom prst="rect">
            <a:avLst/>
          </a:prstGeom>
        </p:spPr>
        <p:txBody>
          <a:bodyPr wrap="square" lIns="223877" tIns="223877" rIns="223877" bIns="223877">
            <a:spAutoFit/>
          </a:bodyPr>
          <a:lstStyle>
            <a:lvl1pPr marL="0" indent="0">
              <a:buNone/>
              <a:defRPr sz="2800">
                <a:solidFill>
                  <a:schemeClr val="accent5">
                    <a:lumMod val="50000"/>
                  </a:schemeClr>
                </a:solidFill>
                <a:latin typeface="Times New Roman" panose="02020603050405020304" pitchFamily="18" charset="0"/>
                <a:cs typeface="Times New Roman" panose="02020603050405020304" pitchFamily="18" charset="0"/>
              </a:defRPr>
            </a:lvl1pPr>
            <a:lvl2pPr marL="1455191" indent="-559688">
              <a:defRPr sz="2500">
                <a:latin typeface="Trebuchet MS" pitchFamily="34" charset="0"/>
              </a:defRPr>
            </a:lvl2pPr>
            <a:lvl3pPr marL="2014879" indent="-559688">
              <a:defRPr sz="2500">
                <a:latin typeface="Trebuchet MS" pitchFamily="34" charset="0"/>
              </a:defRPr>
            </a:lvl3pPr>
            <a:lvl4pPr marL="2630537" indent="-615658">
              <a:defRPr sz="2500">
                <a:latin typeface="Trebuchet MS" pitchFamily="34" charset="0"/>
              </a:defRPr>
            </a:lvl4pPr>
            <a:lvl5pPr marL="3078288" indent="-447751">
              <a:defRPr sz="25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4090899" y="4110875"/>
            <a:ext cx="22093415" cy="1087559"/>
          </a:xfrm>
          <a:prstGeom prst="rect">
            <a:avLst/>
          </a:prstGeom>
        </p:spPr>
        <p:txBody>
          <a:bodyPr lIns="77349" tIns="38675" rIns="77349" bIns="38675">
            <a:normAutofit/>
          </a:bodyPr>
          <a:lstStyle>
            <a:lvl1pPr marL="0" indent="0" algn="ctr">
              <a:buFontTx/>
              <a:buNone/>
              <a:defRPr sz="5400">
                <a:solidFill>
                  <a:schemeClr val="accent5">
                    <a:lumMod val="50000"/>
                  </a:schemeClr>
                </a:solidFill>
                <a:latin typeface="+mj-lt"/>
              </a:defRPr>
            </a:lvl1pPr>
            <a:lvl2pPr>
              <a:buFontTx/>
              <a:buNone/>
              <a:defRPr sz="6100"/>
            </a:lvl2pPr>
            <a:lvl3pPr>
              <a:buFontTx/>
              <a:buNone/>
              <a:defRPr sz="6100"/>
            </a:lvl3pPr>
            <a:lvl4pPr>
              <a:buFontTx/>
              <a:buNone/>
              <a:defRPr sz="6100"/>
            </a:lvl4pPr>
            <a:lvl5pPr>
              <a:buFontTx/>
              <a:buNone/>
              <a:defRPr sz="6100"/>
            </a:lvl5pPr>
          </a:lstStyle>
          <a:p>
            <a:pPr lvl="0"/>
            <a:r>
              <a:rPr lang="en-US" dirty="0"/>
              <a:t>Click here to add affiliations</a:t>
            </a:r>
          </a:p>
        </p:txBody>
      </p:sp>
      <p:sp>
        <p:nvSpPr>
          <p:cNvPr id="79" name="Text Placeholder 76"/>
          <p:cNvSpPr>
            <a:spLocks noGrp="1"/>
          </p:cNvSpPr>
          <p:nvPr>
            <p:ph type="body" sz="quarter" idx="151" hasCustomPrompt="1"/>
          </p:nvPr>
        </p:nvSpPr>
        <p:spPr>
          <a:xfrm>
            <a:off x="4090899" y="2558463"/>
            <a:ext cx="22093415" cy="1262156"/>
          </a:xfrm>
          <a:prstGeom prst="rect">
            <a:avLst/>
          </a:prstGeom>
        </p:spPr>
        <p:txBody>
          <a:bodyPr lIns="77349" tIns="38675" rIns="77349" bIns="38675" anchor="t" anchorCtr="1">
            <a:noAutofit/>
          </a:bodyPr>
          <a:lstStyle>
            <a:lvl1pPr marL="0" indent="0" algn="ctr">
              <a:buFontTx/>
              <a:buNone/>
              <a:defRPr sz="7200">
                <a:solidFill>
                  <a:schemeClr val="accent5">
                    <a:lumMod val="50000"/>
                  </a:schemeClr>
                </a:solidFill>
                <a:latin typeface="+mj-lt"/>
              </a:defRPr>
            </a:lvl1pPr>
            <a:lvl2pPr>
              <a:buFontTx/>
              <a:buNone/>
              <a:defRPr sz="6100"/>
            </a:lvl2pPr>
            <a:lvl3pPr>
              <a:buFontTx/>
              <a:buNone/>
              <a:defRPr sz="6100"/>
            </a:lvl3pPr>
            <a:lvl4pPr>
              <a:buFontTx/>
              <a:buNone/>
              <a:defRPr sz="6100"/>
            </a:lvl4pPr>
            <a:lvl5pPr>
              <a:buFontTx/>
              <a:buNone/>
              <a:defRPr sz="6100"/>
            </a:lvl5pPr>
          </a:lstStyle>
          <a:p>
            <a:pPr lvl="0"/>
            <a:r>
              <a:rPr lang="en-US" dirty="0"/>
              <a:t>Click here to add authors</a:t>
            </a:r>
          </a:p>
        </p:txBody>
      </p:sp>
      <p:sp>
        <p:nvSpPr>
          <p:cNvPr id="80" name="Text Placeholder 76"/>
          <p:cNvSpPr>
            <a:spLocks noGrp="1"/>
          </p:cNvSpPr>
          <p:nvPr>
            <p:ph type="body" sz="quarter" idx="153" hasCustomPrompt="1"/>
          </p:nvPr>
        </p:nvSpPr>
        <p:spPr>
          <a:xfrm>
            <a:off x="4090899" y="492940"/>
            <a:ext cx="22093415" cy="1775267"/>
          </a:xfrm>
          <a:prstGeom prst="rect">
            <a:avLst/>
          </a:prstGeom>
        </p:spPr>
        <p:txBody>
          <a:bodyPr lIns="77349" tIns="38675" rIns="77349" bIns="38675" anchor="t" anchorCtr="1">
            <a:normAutofit/>
          </a:bodyPr>
          <a:lstStyle>
            <a:lvl1pPr marL="0" indent="0" algn="ctr">
              <a:buFontTx/>
              <a:buNone/>
              <a:defRPr sz="9800" b="1">
                <a:solidFill>
                  <a:schemeClr val="accent5">
                    <a:lumMod val="50000"/>
                  </a:schemeClr>
                </a:solidFill>
                <a:latin typeface="+mj-lt"/>
              </a:defRPr>
            </a:lvl1pPr>
            <a:lvl2pPr>
              <a:buFontTx/>
              <a:buNone/>
              <a:defRPr sz="6100"/>
            </a:lvl2pPr>
            <a:lvl3pPr>
              <a:buFontTx/>
              <a:buNone/>
              <a:defRPr sz="6100"/>
            </a:lvl3pPr>
            <a:lvl4pPr>
              <a:buFontTx/>
              <a:buNone/>
              <a:defRPr sz="6100"/>
            </a:lvl4pPr>
            <a:lvl5pPr>
              <a:buFontTx/>
              <a:buNone/>
              <a:defRPr sz="6100"/>
            </a:lvl5pPr>
          </a:lstStyle>
          <a:p>
            <a:pPr lvl="0"/>
            <a:r>
              <a:rPr lang="en-US" dirty="0"/>
              <a:t>Click here to add title</a:t>
            </a:r>
          </a:p>
        </p:txBody>
      </p:sp>
      <p:sp>
        <p:nvSpPr>
          <p:cNvPr id="2" name="Text Placeholder 5">
            <a:extLst>
              <a:ext uri="{FF2B5EF4-FFF2-40B4-BE49-F238E27FC236}">
                <a16:creationId xmlns:a16="http://schemas.microsoft.com/office/drawing/2014/main" id="{A73CEEE2-ACD9-82CF-397D-77E068323C78}"/>
              </a:ext>
            </a:extLst>
          </p:cNvPr>
          <p:cNvSpPr>
            <a:spLocks noGrp="1"/>
          </p:cNvSpPr>
          <p:nvPr>
            <p:ph type="body" sz="quarter" idx="154" hasCustomPrompt="1"/>
          </p:nvPr>
        </p:nvSpPr>
        <p:spPr>
          <a:xfrm>
            <a:off x="15365848" y="24976035"/>
            <a:ext cx="14291358"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r>
              <a:rPr lang="en-US" dirty="0"/>
              <a:t>(click to edit) Experimental Results</a:t>
            </a:r>
          </a:p>
        </p:txBody>
      </p:sp>
      <p:sp>
        <p:nvSpPr>
          <p:cNvPr id="3" name="Text Placeholder 3">
            <a:extLst>
              <a:ext uri="{FF2B5EF4-FFF2-40B4-BE49-F238E27FC236}">
                <a16:creationId xmlns:a16="http://schemas.microsoft.com/office/drawing/2014/main" id="{E970220D-428D-0519-8D48-7EA76D1EC56E}"/>
              </a:ext>
            </a:extLst>
          </p:cNvPr>
          <p:cNvSpPr>
            <a:spLocks noGrp="1"/>
          </p:cNvSpPr>
          <p:nvPr>
            <p:ph type="body" sz="quarter" idx="155" hasCustomPrompt="1"/>
          </p:nvPr>
        </p:nvSpPr>
        <p:spPr>
          <a:xfrm>
            <a:off x="15353328" y="25733277"/>
            <a:ext cx="14300387" cy="897605"/>
          </a:xfrm>
          <a:prstGeom prst="rect">
            <a:avLst/>
          </a:prstGeom>
        </p:spPr>
        <p:txBody>
          <a:bodyPr wrap="square" lIns="223877" tIns="223877" rIns="223877" bIns="223877">
            <a:spAutoFit/>
          </a:bodyPr>
          <a:lstStyle>
            <a:lvl1pPr marL="0" indent="0">
              <a:buNone/>
              <a:defRPr sz="2800">
                <a:solidFill>
                  <a:schemeClr val="accent5">
                    <a:lumMod val="50000"/>
                  </a:schemeClr>
                </a:solidFill>
                <a:latin typeface="Times New Roman" panose="02020603050405020304" pitchFamily="18" charset="0"/>
                <a:cs typeface="Times New Roman" panose="02020603050405020304" pitchFamily="18" charset="0"/>
              </a:defRPr>
            </a:lvl1pPr>
            <a:lvl2pPr marL="1455191" indent="-559688">
              <a:defRPr sz="2500">
                <a:latin typeface="Trebuchet MS" pitchFamily="34" charset="0"/>
              </a:defRPr>
            </a:lvl2pPr>
            <a:lvl3pPr marL="2014879" indent="-559688">
              <a:defRPr sz="2500">
                <a:latin typeface="Trebuchet MS" pitchFamily="34" charset="0"/>
              </a:defRPr>
            </a:lvl3pPr>
            <a:lvl4pPr marL="2630537" indent="-615658">
              <a:defRPr sz="2500">
                <a:latin typeface="Trebuchet MS" pitchFamily="34" charset="0"/>
              </a:defRPr>
            </a:lvl4pPr>
            <a:lvl5pPr marL="3078288" indent="-447751">
              <a:defRPr sz="2500">
                <a:latin typeface="Trebuchet MS" pitchFamily="34" charset="0"/>
              </a:defRPr>
            </a:lvl5pPr>
          </a:lstStyle>
          <a:p>
            <a:pPr lvl="0"/>
            <a:r>
              <a:rPr lang="en-US" dirty="0"/>
              <a:t>Type in or paste your text here</a:t>
            </a:r>
          </a:p>
        </p:txBody>
      </p:sp>
    </p:spTree>
    <p:extLst>
      <p:ext uri="{BB962C8B-B14F-4D97-AF65-F5344CB8AC3E}">
        <p14:creationId xmlns:p14="http://schemas.microsoft.com/office/powerpoint/2010/main" val="22471728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E70713F-4B5C-AD41-A9C1-0EDA460603E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3199655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764CC4D-40CA-E106-D750-21DA993E4B48}"/>
              </a:ext>
            </a:extLst>
          </p:cNvPr>
          <p:cNvSpPr>
            <a:spLocks noGrp="1"/>
          </p:cNvSpPr>
          <p:nvPr>
            <p:ph type="title"/>
          </p:nvPr>
        </p:nvSpPr>
        <p:spPr>
          <a:xfrm>
            <a:off x="7103948" y="1560456"/>
            <a:ext cx="16067315" cy="2031830"/>
          </a:xfrm>
        </p:spPr>
        <p:txBody>
          <a:bodyPr/>
          <a:lstStyle/>
          <a:p>
            <a:endParaRPr lang="en-US" dirty="0"/>
          </a:p>
        </p:txBody>
      </p:sp>
      <p:sp>
        <p:nvSpPr>
          <p:cNvPr id="7" name="Text Placeholder 5">
            <a:extLst>
              <a:ext uri="{FF2B5EF4-FFF2-40B4-BE49-F238E27FC236}">
                <a16:creationId xmlns:a16="http://schemas.microsoft.com/office/drawing/2014/main" id="{5BC3F14C-E222-62E8-2CB0-3C8B8424E148}"/>
              </a:ext>
            </a:extLst>
          </p:cNvPr>
          <p:cNvSpPr>
            <a:spLocks noGrp="1"/>
          </p:cNvSpPr>
          <p:nvPr>
            <p:ph type="body" sz="quarter" idx="11"/>
          </p:nvPr>
        </p:nvSpPr>
        <p:spPr>
          <a:xfrm>
            <a:off x="636213" y="6884938"/>
            <a:ext cx="14287866" cy="724461"/>
          </a:xfrm>
          <a:prstGeom prst="rect">
            <a:avLst/>
          </a:prstGeom>
          <a:noFill/>
        </p:spPr>
        <p:txBody>
          <a:bodyPr wrap="square" lIns="89551" tIns="89551" rIns="89551" bIns="89551" anchor="ctr" anchorCtr="0">
            <a:spAutoFit/>
          </a:bodyPr>
          <a:lstStyle>
            <a:lvl1pPr marL="0" indent="0" algn="ctr">
              <a:buNone/>
              <a:defRPr sz="3900" b="1" u="sng" baseline="0">
                <a:solidFill>
                  <a:schemeClr val="accent5">
                    <a:lumMod val="50000"/>
                  </a:schemeClr>
                </a:solidFill>
              </a:defRPr>
            </a:lvl1pPr>
          </a:lstStyle>
          <a:p>
            <a:pPr lvl="0"/>
            <a:endParaRPr lang="en-US" dirty="0"/>
          </a:p>
        </p:txBody>
      </p:sp>
    </p:spTree>
    <p:extLst>
      <p:ext uri="{BB962C8B-B14F-4D97-AF65-F5344CB8AC3E}">
        <p14:creationId xmlns:p14="http://schemas.microsoft.com/office/powerpoint/2010/main" val="2927802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E70713F-4B5C-AD41-A9C1-0EDA460603E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4289951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70713F-4B5C-AD41-A9C1-0EDA460603EE}"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3938174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E70713F-4B5C-AD41-A9C1-0EDA460603EE}"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2876740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E70713F-4B5C-AD41-A9C1-0EDA460603EE}"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150340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E70713F-4B5C-AD41-A9C1-0EDA460603EE}"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1182752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7E70713F-4B5C-AD41-A9C1-0EDA460603EE}"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41439355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7E70713F-4B5C-AD41-A9C1-0EDA460603EE}"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1413550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70713F-4B5C-AD41-A9C1-0EDA460603E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255055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70713F-4B5C-AD41-A9C1-0EDA460603EE}"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4B3C1C-7ED1-5E4C-8A37-2117C2A4D536}" type="slidenum">
              <a:rPr lang="en-US" smtClean="0"/>
              <a:t>‹#›</a:t>
            </a:fld>
            <a:endParaRPr lang="en-US"/>
          </a:p>
        </p:txBody>
      </p:sp>
    </p:spTree>
    <p:extLst>
      <p:ext uri="{BB962C8B-B14F-4D97-AF65-F5344CB8AC3E}">
        <p14:creationId xmlns:p14="http://schemas.microsoft.com/office/powerpoint/2010/main" val="1518716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7E70713F-4B5C-AD41-A9C1-0EDA460603EE}" type="datetimeFigureOut">
              <a:rPr lang="en-US" smtClean="0"/>
              <a:t>10/30/2026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D4B3C1C-7ED1-5E4C-8A37-2117C2A4D536}" type="slidenum">
              <a:rPr lang="en-US" smtClean="0"/>
              <a:t>‹#›</a:t>
            </a:fld>
            <a:endParaRPr lang="en-US"/>
          </a:p>
        </p:txBody>
      </p:sp>
    </p:spTree>
    <p:extLst>
      <p:ext uri="{BB962C8B-B14F-4D97-AF65-F5344CB8AC3E}">
        <p14:creationId xmlns:p14="http://schemas.microsoft.com/office/powerpoint/2010/main" val="2168316285"/>
      </p:ext>
    </p:extLst>
  </p:cSld>
  <p:clrMap bg1="lt1" tx1="dk1" bg2="lt2" tx2="dk2" accent1="accent1" accent2="accent2" accent3="accent3" accent4="accent4" accent5="accent5" accent6="accent6" hlink="hlink" folHlink="folHlink"/>
  <p:sldLayoutIdLst>
    <p:sldLayoutId id="2147483673" r:id="rId1"/>
    <p:sldLayoutId id="2147483661" r:id="rId2"/>
    <p:sldLayoutId id="214748367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9FC"/>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BAE24B3-6CAF-FFBF-565C-DC77E8B2EBD5}"/>
              </a:ext>
            </a:extLst>
          </p:cNvPr>
          <p:cNvSpPr>
            <a:spLocks noGrp="1"/>
          </p:cNvSpPr>
          <p:nvPr>
            <p:ph type="body" sz="quarter" idx="10"/>
          </p:nvPr>
        </p:nvSpPr>
        <p:spPr>
          <a:xfrm>
            <a:off x="621792" y="7589520"/>
            <a:ext cx="14301216" cy="10698480"/>
          </a:xfrm>
        </p:spPr>
        <p:txBody>
          <a:bodyPr>
            <a:noAutofit/>
          </a:bodyPr>
          <a:lstStyle/>
          <a:p>
            <a:pPr algn="just">
              <a:spcAft>
                <a:spcPts val="2000"/>
              </a:spcAft>
            </a:pPr>
            <a:r>
              <a:rPr lang="en-US" sz="3200" dirty="0"/>
              <a:t>Resume screening is increasingly handed to large language models (LLMs), yet deployed systems rarely report how they fail. AgentU is a web application in which a recruiter describes a role once and an AI agent writes the job listing, publishes it on a public careers page, shares it on LinkedIn, screens incoming resumes with Google Gemini and keeps the recruiter informed by email. Every step the agent takes is appended to an event log that drives a live activity feed, and every external service has a fallback, so no single outage stops a recruiter publishing or a candidate applying.</a:t>
            </a:r>
            <a:endParaRPr lang="en-US" sz="3200" dirty="0"/>
          </a:p>
          <a:p>
            <a:pPr algn="just">
              <a:spcAft>
                <a:spcPts val="2000"/>
              </a:spcAft>
            </a:pPr>
            <a:r>
              <a:rPr lang="en-US" sz="3200" dirty="0"/>
              <a:t>We evaluated the screening component on 48 labelled job–resume pairs. Gemini reached Cohen’s κ = 0.623 and Spearman ρ = 0.915 against human ratings, against κ = 0.235 for keyword matching, and never rejected a candidate a human would shortlist. We also report four failure modes: keyword stuffing, sensitivity to resume wording, prompt injection and silent PDF extraction failure.</a:t>
            </a:r>
            <a:endParaRPr lang="en-US" sz="3200" dirty="0"/>
          </a:p>
          <a:p>
            <a:pPr>
              <a:spcAft>
                <a:spcPts val="1000"/>
              </a:spcAft>
            </a:pPr>
            <a:r>
              <a:rPr lang="en-US" sz="3000" b="1" dirty="0"/>
              <a:t xml:space="preserve">Keywords: </a:t>
            </a:r>
            <a:r>
              <a:rPr lang="en-US" sz="3000" dirty="0"/>
              <a:t>LLM-assisted recruitment, resume screening, prompt injection, event sourcing, graceful degradation, evaluation methodology</a:t>
            </a:r>
            <a:endParaRPr lang="en-US" sz="3000" dirty="0"/>
          </a:p>
        </p:txBody>
      </p:sp>
      <p:sp>
        <p:nvSpPr>
          <p:cNvPr id="3" name="Text Placeholder 2">
            <a:extLst>
              <a:ext uri="{FF2B5EF4-FFF2-40B4-BE49-F238E27FC236}">
                <a16:creationId xmlns:a16="http://schemas.microsoft.com/office/drawing/2014/main" id="{80380ED4-BDC9-974B-CC52-F6BB7C473CDA}"/>
              </a:ext>
            </a:extLst>
          </p:cNvPr>
          <p:cNvSpPr>
            <a:spLocks noGrp="1"/>
          </p:cNvSpPr>
          <p:nvPr>
            <p:ph type="body" sz="quarter" idx="11"/>
          </p:nvPr>
        </p:nvSpPr>
        <p:spPr>
          <a:solidFill>
            <a:srgbClr val="C00000"/>
          </a:solidFill>
        </p:spPr>
        <p:txBody>
          <a:bodyPr/>
          <a:lstStyle/>
          <a:p>
            <a:r>
              <a:rPr lang="en-US" dirty="0">
                <a:solidFill>
                  <a:schemeClr val="bg1"/>
                </a:solidFill>
              </a:rPr>
              <a:t>Abstract</a:t>
            </a:r>
          </a:p>
        </p:txBody>
      </p:sp>
      <p:sp>
        <p:nvSpPr>
          <p:cNvPr id="4" name="Text Placeholder 3">
            <a:extLst>
              <a:ext uri="{FF2B5EF4-FFF2-40B4-BE49-F238E27FC236}">
                <a16:creationId xmlns:a16="http://schemas.microsoft.com/office/drawing/2014/main" id="{42378EA6-312C-ECEF-59B9-E36348719ACD}"/>
              </a:ext>
            </a:extLst>
          </p:cNvPr>
          <p:cNvSpPr>
            <a:spLocks noGrp="1"/>
          </p:cNvSpPr>
          <p:nvPr>
            <p:ph type="body" sz="quarter" idx="20"/>
          </p:nvPr>
        </p:nvSpPr>
        <p:spPr>
          <a:solidFill>
            <a:srgbClr val="C00000"/>
          </a:solidFill>
        </p:spPr>
        <p:txBody>
          <a:bodyPr/>
          <a:lstStyle/>
          <a:p>
            <a:r>
              <a:rPr lang="en-US" dirty="0">
                <a:solidFill>
                  <a:schemeClr val="bg1"/>
                </a:solidFill>
              </a:rPr>
              <a:t>Objectives</a:t>
            </a:r>
          </a:p>
        </p:txBody>
      </p:sp>
      <p:sp>
        <p:nvSpPr>
          <p:cNvPr id="5" name="Text Placeholder 4">
            <a:extLst>
              <a:ext uri="{FF2B5EF4-FFF2-40B4-BE49-F238E27FC236}">
                <a16:creationId xmlns:a16="http://schemas.microsoft.com/office/drawing/2014/main" id="{BE303FC3-EF78-0195-9E8A-80D1DD3BF3A7}"/>
              </a:ext>
            </a:extLst>
          </p:cNvPr>
          <p:cNvSpPr>
            <a:spLocks noGrp="1"/>
          </p:cNvSpPr>
          <p:nvPr>
            <p:ph type="body" sz="quarter" idx="25"/>
          </p:nvPr>
        </p:nvSpPr>
        <p:spPr>
          <a:solidFill>
            <a:srgbClr val="C00000"/>
          </a:solidFill>
        </p:spPr>
        <p:txBody>
          <a:bodyPr/>
          <a:lstStyle/>
          <a:p>
            <a:r>
              <a:rPr lang="en-US" dirty="0">
                <a:solidFill>
                  <a:schemeClr val="bg1"/>
                </a:solidFill>
              </a:rPr>
              <a:t>Proposed Methodology</a:t>
            </a:r>
          </a:p>
        </p:txBody>
      </p:sp>
      <p:sp>
        <p:nvSpPr>
          <p:cNvPr id="6" name="Text Placeholder 5">
            <a:extLst>
              <a:ext uri="{FF2B5EF4-FFF2-40B4-BE49-F238E27FC236}">
                <a16:creationId xmlns:a16="http://schemas.microsoft.com/office/drawing/2014/main" id="{27492D2A-3855-86DB-BA68-CFA9AC77BE13}"/>
              </a:ext>
            </a:extLst>
          </p:cNvPr>
          <p:cNvSpPr>
            <a:spLocks noGrp="1"/>
          </p:cNvSpPr>
          <p:nvPr>
            <p:ph type="body" sz="quarter" idx="26"/>
          </p:nvPr>
        </p:nvSpPr>
        <p:spPr>
          <a:xfrm>
            <a:off x="15352776" y="7589520"/>
            <a:ext cx="14301216" cy="6766560"/>
          </a:xfrm>
        </p:spPr>
        <p:txBody>
          <a:bodyPr>
            <a:noAutofit/>
          </a:bodyPr>
          <a:lstStyle/>
          <a:p>
            <a:pPr marL="457200" indent="-457200">
              <a:spcAft>
                <a:spcPts val="1000"/>
              </a:spcAft>
              <a:buFont typeface="Arial" panose="020B0604020202020204" pitchFamily="34" charset="0"/>
              <a:buChar char="•"/>
            </a:pPr>
            <a:r>
              <a:rPr lang="en-US" sz="2800" b="1" dirty="0"/>
              <a:t xml:space="preserve">Stack: </a:t>
            </a:r>
            <a:r>
              <a:rPr lang="en-US" sz="2800" dirty="0"/>
              <a:t>Next.js 15, NextAuth v5, Prisma 7 over MySQL, Google Gemini (JSON mode, temperature 0.2), deployed on Vercel.</a:t>
            </a:r>
            <a:endParaRPr lang="en-US" sz="2800" dirty="0"/>
          </a:p>
          <a:p>
            <a:pPr marL="457200" indent="-457200">
              <a:spcAft>
                <a:spcPts val="1000"/>
              </a:spcAft>
              <a:buFont typeface="Arial" panose="020B0604020202020204" pitchFamily="34" charset="0"/>
              <a:buChar char="•"/>
            </a:pPr>
            <a:r>
              <a:rPr lang="en-US" sz="2800" b="1" dirty="0"/>
              <a:t xml:space="preserve">Publish pipeline: </a:t>
            </a:r>
            <a:r>
              <a:rPr lang="en-US" sz="2800" dirty="0"/>
              <a:t>company profile → Gemini writes the listing → public careers page → LinkedIn, Discord, Telegram and Google Indexing API → email to the recruiter.</a:t>
            </a:r>
            <a:endParaRPr lang="en-US" sz="2800" dirty="0"/>
          </a:p>
          <a:p>
            <a:pPr marL="457200" indent="-457200">
              <a:spcAft>
                <a:spcPts val="1000"/>
              </a:spcAft>
              <a:buFont typeface="Arial" panose="020B0604020202020204" pitchFamily="34" charset="0"/>
              <a:buChar char="•"/>
            </a:pPr>
            <a:r>
              <a:rPr lang="en-US" sz="2800" b="1" dirty="0"/>
              <a:t xml:space="preserve">Screening: </a:t>
            </a:r>
            <a:r>
              <a:rPr lang="en-US" sz="2800" dirty="0"/>
              <a:t>resume text is extracted and scored by Gemini against the job requirements: ≥ 70 selected, ≥ 40 review, otherwise rejected; keyword-overlap scoring is the fallback.</a:t>
            </a:r>
            <a:endParaRPr lang="en-US" sz="2800" dirty="0"/>
          </a:p>
          <a:p>
            <a:pPr marL="457200" indent="-457200">
              <a:spcAft>
                <a:spcPts val="1000"/>
              </a:spcAft>
              <a:buFont typeface="Arial" panose="020B0604020202020204" pitchFamily="34" charset="0"/>
              <a:buChar char="•"/>
            </a:pPr>
            <a:r>
              <a:rPr lang="en-US" sz="2800" b="1" dirty="0"/>
              <a:t xml:space="preserve">Event sourcing: </a:t>
            </a:r>
            <a:r>
              <a:rPr lang="en-US" sz="2800" dirty="0"/>
              <a:t>each step appends an AgentEvent; the dashboard feed is a projection of that log.</a:t>
            </a:r>
            <a:endParaRPr lang="en-US" sz="2800" dirty="0"/>
          </a:p>
          <a:p>
            <a:pPr marL="457200" indent="-457200">
              <a:spcAft>
                <a:spcPts val="1000"/>
              </a:spcAft>
              <a:buFont typeface="Arial" panose="020B0604020202020204" pitchFamily="34" charset="0"/>
              <a:buChar char="•"/>
            </a:pPr>
            <a:r>
              <a:rPr lang="en-US" sz="2800" b="1" dirty="0"/>
              <a:t xml:space="preserve">Evaluation: </a:t>
            </a:r>
            <a:r>
              <a:rPr lang="en-US" sz="2800" dirty="0"/>
              <a:t>48 labelled job–resume pairs (12 resumes × 4 roles) scored by gemini-3.5-flash-lite through the production code path, against the keyword fallback and a reject-all baseline.</a:t>
            </a:r>
            <a:endParaRPr lang="en-US" sz="2800" dirty="0"/>
          </a:p>
        </p:txBody>
      </p:sp>
      <p:sp>
        <p:nvSpPr>
          <p:cNvPr id="7" name="Text Placeholder 6">
            <a:extLst>
              <a:ext uri="{FF2B5EF4-FFF2-40B4-BE49-F238E27FC236}">
                <a16:creationId xmlns:a16="http://schemas.microsoft.com/office/drawing/2014/main" id="{2283505F-57B0-D147-C007-1439ADEC2380}"/>
              </a:ext>
            </a:extLst>
          </p:cNvPr>
          <p:cNvSpPr>
            <a:spLocks noGrp="1"/>
          </p:cNvSpPr>
          <p:nvPr>
            <p:ph type="body" sz="quarter" idx="27"/>
          </p:nvPr>
        </p:nvSpPr>
        <p:spPr>
          <a:solidFill>
            <a:srgbClr val="C00000"/>
          </a:solidFill>
        </p:spPr>
        <p:txBody>
          <a:bodyPr/>
          <a:lstStyle/>
          <a:p>
            <a:r>
              <a:rPr lang="en-US" dirty="0">
                <a:solidFill>
                  <a:schemeClr val="bg1"/>
                </a:solidFill>
              </a:rPr>
              <a:t>References</a:t>
            </a:r>
          </a:p>
        </p:txBody>
      </p:sp>
      <p:sp>
        <p:nvSpPr>
          <p:cNvPr id="8" name="Text Placeholder 7">
            <a:extLst>
              <a:ext uri="{FF2B5EF4-FFF2-40B4-BE49-F238E27FC236}">
                <a16:creationId xmlns:a16="http://schemas.microsoft.com/office/drawing/2014/main" id="{5050C502-46E2-231E-BC5F-71BFDCE1817F}"/>
              </a:ext>
            </a:extLst>
          </p:cNvPr>
          <p:cNvSpPr>
            <a:spLocks noGrp="1"/>
          </p:cNvSpPr>
          <p:nvPr>
            <p:ph type="body" sz="quarter" idx="28"/>
          </p:nvPr>
        </p:nvSpPr>
        <p:spPr>
          <a:xfrm>
            <a:off x="621792" y="32589216"/>
            <a:ext cx="14301216" cy="9144000"/>
          </a:xfrm>
        </p:spPr>
        <p:txBody>
          <a:bodyPr>
            <a:noAutofit/>
          </a:bodyPr>
          <a:lstStyle/>
          <a:p>
            <a:pPr>
              <a:spcAft>
                <a:spcPts val="1000"/>
              </a:spcAft>
            </a:pPr>
            <a:r>
              <a:rPr lang="en-US" sz="2600" dirty="0"/>
              <a:t>[1] F. P.-W. Lo, J. Qiu, Z. Wang, H. Yu, Y. Chen, G. Zhang, and B. Lo, “AI Hiring with LLMs: A Context-Aware and Explainable Multi-Agent Framework for Resume Screening,” in Proc. IEEE/CVF CVPR Workshops, 2025. (Base paper)</a:t>
            </a:r>
            <a:endParaRPr lang="en-US" sz="2600" dirty="0"/>
          </a:p>
          <a:p>
            <a:pPr>
              <a:spcAft>
                <a:spcPts val="1000"/>
              </a:spcAft>
            </a:pPr>
            <a:r>
              <a:rPr lang="en-US" sz="2600" dirty="0"/>
              <a:t>[2] P. Baxi, J. Xu, J. Y. Jiang, and S. Jasin, “Prompt Injection in Automated Résumé Screening with Large Language Models: Single and Multi-Injection Settings,” in Findings of ACL, 2026.</a:t>
            </a:r>
            <a:endParaRPr lang="en-US" sz="2600" dirty="0"/>
          </a:p>
          <a:p>
            <a:pPr>
              <a:spcAft>
                <a:spcPts val="1000"/>
              </a:spcAft>
            </a:pPr>
            <a:r>
              <a:rPr lang="en-US" sz="2600" dirty="0"/>
              <a:t>[3] K. Greshake et al., “Not What You’ve Signed Up For: Compromising Real-World LLM-Integrated Applications with Indirect Prompt Injection,” in Proc. ACM AISec, 2023.</a:t>
            </a:r>
            <a:endParaRPr lang="en-US" sz="2600" dirty="0"/>
          </a:p>
          <a:p>
            <a:pPr>
              <a:spcAft>
                <a:spcPts val="1000"/>
              </a:spcAft>
            </a:pPr>
            <a:r>
              <a:rPr lang="en-US" sz="2600" dirty="0"/>
              <a:t>[4] M. Raghavan, S. Barocas, J. Kleinberg, and K. Levy, “Mitigating Bias in Algorithmic Hiring: Evaluating Claims and Practices,” in Proc. ACM FAccT, 2020.</a:t>
            </a:r>
            <a:endParaRPr lang="en-US" sz="2600" dirty="0"/>
          </a:p>
          <a:p>
            <a:pPr>
              <a:spcAft>
                <a:spcPts val="1000"/>
              </a:spcAft>
            </a:pPr>
            <a:r>
              <a:rPr lang="en-US" sz="2600" dirty="0"/>
              <a:t>[5] V. Filatova, A. Zelenchuk, and D. Filatov, “AI-Driven Decision-Making System for Hiring Process,” arXiv:2512.20652, 2025.</a:t>
            </a:r>
            <a:endParaRPr lang="en-US" sz="2600" dirty="0"/>
          </a:p>
          <a:p>
            <a:pPr>
              <a:spcAft>
                <a:spcPts val="1000"/>
              </a:spcAft>
            </a:pPr>
            <a:r>
              <a:rPr lang="en-US" sz="2600" dirty="0"/>
              <a:t>[6] J. Cohen, “A Coefficient of Agreement for Nominal Scales,” Educational and Psychological Measurement, vol. 20, no. 1, pp. 37–46, 1960.</a:t>
            </a:r>
            <a:endParaRPr lang="en-US" sz="2600" dirty="0"/>
          </a:p>
        </p:txBody>
      </p:sp>
      <p:sp>
        <p:nvSpPr>
          <p:cNvPr id="9" name="Text Placeholder 8">
            <a:extLst>
              <a:ext uri="{FF2B5EF4-FFF2-40B4-BE49-F238E27FC236}">
                <a16:creationId xmlns:a16="http://schemas.microsoft.com/office/drawing/2014/main" id="{399D4F33-A05F-99BA-67E6-198CD7C00D95}"/>
              </a:ext>
            </a:extLst>
          </p:cNvPr>
          <p:cNvSpPr>
            <a:spLocks noGrp="1"/>
          </p:cNvSpPr>
          <p:nvPr>
            <p:ph type="body" sz="quarter" idx="29"/>
          </p:nvPr>
        </p:nvSpPr>
        <p:spPr>
          <a:solidFill>
            <a:srgbClr val="C00000"/>
          </a:solidFill>
        </p:spPr>
        <p:txBody>
          <a:bodyPr/>
          <a:lstStyle/>
          <a:p>
            <a:r>
              <a:rPr lang="en-US" dirty="0">
                <a:solidFill>
                  <a:schemeClr val="bg1"/>
                </a:solidFill>
              </a:rPr>
              <a:t>Team Details</a:t>
            </a:r>
          </a:p>
        </p:txBody>
      </p:sp>
      <p:sp>
        <p:nvSpPr>
          <p:cNvPr id="10" name="Text Placeholder 9">
            <a:extLst>
              <a:ext uri="{FF2B5EF4-FFF2-40B4-BE49-F238E27FC236}">
                <a16:creationId xmlns:a16="http://schemas.microsoft.com/office/drawing/2014/main" id="{6238FB74-198A-E802-6D4E-35526CA7C4CE}"/>
              </a:ext>
            </a:extLst>
          </p:cNvPr>
          <p:cNvSpPr>
            <a:spLocks noGrp="1"/>
          </p:cNvSpPr>
          <p:nvPr>
            <p:ph type="body" sz="quarter" idx="30"/>
          </p:nvPr>
        </p:nvSpPr>
        <p:spPr>
          <a:xfrm>
            <a:off x="15353329" y="37358864"/>
            <a:ext cx="14283756" cy="3272899"/>
          </a:xfrm>
        </p:spPr>
        <p:txBody>
          <a:bodyPr/>
          <a:lstStyle/>
          <a:p>
            <a:r>
              <a:rPr lang="en-US" dirty="0"/>
              <a:t>Supervisor: N Sirisha, Assistant Professor</a:t>
            </a:r>
          </a:p>
          <a:p>
            <a:r>
              <a:rPr lang="en-US" dirty="0"/>
              <a:t>2320030018 – M G K Gowtham</a:t>
            </a:r>
          </a:p>
          <a:p>
            <a:r>
              <a:rPr lang="en-US" dirty="0"/>
              <a:t>2320030016 – V Balaji Naidu</a:t>
            </a:r>
          </a:p>
          <a:p>
            <a:r>
              <a:rPr lang="en-US" dirty="0"/>
              <a:t>2320030004 – Dodla Hemanth Raj</a:t>
            </a:r>
          </a:p>
        </p:txBody>
      </p:sp>
      <p:sp>
        <p:nvSpPr>
          <p:cNvPr id="11" name="Text Placeholder 10">
            <a:extLst>
              <a:ext uri="{FF2B5EF4-FFF2-40B4-BE49-F238E27FC236}">
                <a16:creationId xmlns:a16="http://schemas.microsoft.com/office/drawing/2014/main" id="{8E8FAAD1-9D6D-0FFA-5F80-F5B6C776031C}"/>
              </a:ext>
            </a:extLst>
          </p:cNvPr>
          <p:cNvSpPr>
            <a:spLocks noGrp="1"/>
          </p:cNvSpPr>
          <p:nvPr>
            <p:ph type="body" sz="quarter" idx="96"/>
          </p:nvPr>
        </p:nvSpPr>
        <p:spPr>
          <a:xfrm>
            <a:off x="621792" y="19275552"/>
            <a:ext cx="14301216" cy="12252960"/>
          </a:xfrm>
        </p:spPr>
        <p:txBody>
          <a:bodyPr>
            <a:noAutofit/>
          </a:bodyPr>
          <a:lstStyle/>
          <a:p>
            <a:pPr marL="457200" indent="-457200">
              <a:spcAft>
                <a:spcPts val="1800"/>
              </a:spcAft>
              <a:buFont typeface="Arial" panose="020B0604020202020204" pitchFamily="34" charset="0"/>
              <a:buChar char="•"/>
            </a:pPr>
            <a:r>
              <a:rPr lang="en-US" sz="3200" b="1" dirty="0"/>
              <a:t xml:space="preserve">Automate job publishing: </a:t>
            </a:r>
            <a:r>
              <a:rPr lang="en-US" sz="3200" dirty="0"/>
              <a:t>turn a recruiter’s brief into a polished listing on a public careers page, with Google for Jobs structured data and LinkedIn sharing.</a:t>
            </a:r>
            <a:endParaRPr lang="en-US" sz="3200" dirty="0"/>
          </a:p>
          <a:p>
            <a:pPr marL="457200" indent="-457200">
              <a:spcAft>
                <a:spcPts val="1800"/>
              </a:spcAft>
              <a:buFont typeface="Arial" panose="020B0604020202020204" pitchFamily="34" charset="0"/>
              <a:buChar char="•"/>
            </a:pPr>
            <a:r>
              <a:rPr lang="en-US" sz="3200" b="1" dirty="0"/>
              <a:t xml:space="preserve">Screen applications with AI: </a:t>
            </a:r>
            <a:r>
              <a:rPr lang="en-US" sz="3200" dirty="0"/>
              <a:t>extract text from PDF, DOCX and text resumes and score each one against the role into selected, review or rejected bands.</a:t>
            </a:r>
            <a:endParaRPr lang="en-US" sz="3200" dirty="0"/>
          </a:p>
          <a:p>
            <a:pPr marL="457200" indent="-457200">
              <a:spcAft>
                <a:spcPts val="1800"/>
              </a:spcAft>
              <a:buFont typeface="Arial" panose="020B0604020202020204" pitchFamily="34" charset="0"/>
              <a:buChar char="•"/>
            </a:pPr>
            <a:r>
              <a:rPr lang="en-US" sz="3200" b="1" dirty="0"/>
              <a:t xml:space="preserve">Keep the recruiter informed: </a:t>
            </a:r>
            <a:r>
              <a:rPr lang="en-US" sz="3200" dirty="0"/>
              <a:t>record every agent step in an append-only event log shown as a live activity feed, with email notifications.</a:t>
            </a:r>
            <a:endParaRPr lang="en-US" sz="3200" dirty="0"/>
          </a:p>
          <a:p>
            <a:pPr marL="457200" indent="-457200">
              <a:spcAft>
                <a:spcPts val="1800"/>
              </a:spcAft>
              <a:buFont typeface="Arial" panose="020B0604020202020204" pitchFamily="34" charset="0"/>
              <a:buChar char="•"/>
            </a:pPr>
            <a:r>
              <a:rPr lang="en-US" sz="3200" b="1" dirty="0"/>
              <a:t xml:space="preserve">Stay available when services fail: </a:t>
            </a:r>
            <a:r>
              <a:rPr lang="en-US" sz="3200" dirty="0"/>
              <a:t>give every external dependency (Gemini, LinkedIn, SMTP) a documented fallback.</a:t>
            </a:r>
            <a:endParaRPr lang="en-US" sz="3200" dirty="0"/>
          </a:p>
          <a:p>
            <a:pPr marL="457200" indent="-457200">
              <a:spcAft>
                <a:spcPts val="1800"/>
              </a:spcAft>
              <a:buFont typeface="Arial" panose="020B0604020202020204" pitchFamily="34" charset="0"/>
              <a:buChar char="•"/>
            </a:pPr>
            <a:r>
              <a:rPr lang="en-US" sz="3200" b="1" dirty="0"/>
              <a:t xml:space="preserve">Measure screening quality honestly: </a:t>
            </a:r>
            <a:r>
              <a:rPr lang="en-US" sz="3200" dirty="0"/>
              <a:t>evaluate the production code path against human labels with metrics that hold up under class imbalance (Cohen’s κ, macro F1, Spearman ρ).</a:t>
            </a:r>
            <a:endParaRPr lang="en-US" sz="3200" dirty="0"/>
          </a:p>
          <a:p>
            <a:pPr marL="457200" indent="-457200">
              <a:spcAft>
                <a:spcPts val="1800"/>
              </a:spcAft>
              <a:buFont typeface="Arial" panose="020B0604020202020204" pitchFamily="34" charset="0"/>
              <a:buChar char="•"/>
            </a:pPr>
            <a:r>
              <a:rPr lang="en-US" sz="3200" b="1" dirty="0"/>
              <a:t xml:space="preserve">Characterise failure modes: </a:t>
            </a:r>
            <a:r>
              <a:rPr lang="en-US" sz="3200" dirty="0"/>
              <a:t>test determinism, presentation sensitivity, keyword stuffing, prompt injection and resume extraction reliability.</a:t>
            </a:r>
            <a:endParaRPr lang="en-US" sz="3200" dirty="0"/>
          </a:p>
        </p:txBody>
      </p:sp>
      <p:sp>
        <p:nvSpPr>
          <p:cNvPr id="14" name="Text Placeholder 13">
            <a:extLst>
              <a:ext uri="{FF2B5EF4-FFF2-40B4-BE49-F238E27FC236}">
                <a16:creationId xmlns:a16="http://schemas.microsoft.com/office/drawing/2014/main" id="{077E7D37-4ADD-B411-5745-64B80A6DFF3E}"/>
              </a:ext>
            </a:extLst>
          </p:cNvPr>
          <p:cNvSpPr>
            <a:spLocks noGrp="1"/>
          </p:cNvSpPr>
          <p:nvPr>
            <p:ph type="body" sz="quarter" idx="153"/>
          </p:nvPr>
        </p:nvSpPr>
        <p:spPr>
          <a:xfrm>
            <a:off x="6248401" y="1190980"/>
            <a:ext cx="20319999" cy="2712068"/>
          </a:xfrm>
        </p:spPr>
        <p:txBody>
          <a:bodyPr/>
          <a:lstStyle/>
          <a:p>
            <a:pPr algn="ctr"/>
            <a:r>
              <a:rPr lang="en-US" sz="6600" b="1" dirty="0">
                <a:ln w="0"/>
                <a:solidFill>
                  <a:srgbClr val="002060"/>
                </a:solidFill>
                <a:effectLst>
                  <a:outerShdw blurRad="38100" dist="25400" dir="2700000" algn="tl" rotWithShape="0">
                    <a:prstClr val="black">
                      <a:alpha val="40000"/>
                    </a:prstClr>
                  </a:outerShdw>
                </a:effectLst>
              </a:rPr>
              <a:t>AgentU: An Event-Sourced AI Agent</a:t>
            </a:r>
            <a:br>
              <a:rPr lang="en-US" sz="6600" b="1" dirty="0">
                <a:ln w="0"/>
                <a:solidFill>
                  <a:srgbClr val="002060"/>
                </a:solidFill>
                <a:effectLst>
                  <a:outerShdw blurRad="38100" dist="25400" dir="2700000" algn="tl" rotWithShape="0">
                    <a:prstClr val="black">
                      <a:alpha val="40000"/>
                    </a:prstClr>
                  </a:outerShdw>
                </a:effectLst>
              </a:rPr>
            </a:br>
            <a:r>
              <a:rPr lang="en-US" sz="6600" b="1" dirty="0">
                <a:ln w="0"/>
                <a:solidFill>
                  <a:srgbClr val="002060"/>
                </a:solidFill>
                <a:effectLst>
                  <a:outerShdw blurRad="38100" dist="25400" dir="2700000" algn="tl" rotWithShape="0">
                    <a:prstClr val="black">
                      <a:alpha val="40000"/>
                    </a:prstClr>
                  </a:outerShdw>
                </a:effectLst>
              </a:rPr>
              <a:t>for LLM-Assisted Recruitment</a:t>
            </a:r>
          </a:p>
        </p:txBody>
      </p:sp>
      <p:sp>
        <p:nvSpPr>
          <p:cNvPr id="15" name="Text Placeholder 14">
            <a:extLst>
              <a:ext uri="{FF2B5EF4-FFF2-40B4-BE49-F238E27FC236}">
                <a16:creationId xmlns:a16="http://schemas.microsoft.com/office/drawing/2014/main" id="{31925E26-3D5F-FD61-C041-F736D92C1EDE}"/>
              </a:ext>
            </a:extLst>
          </p:cNvPr>
          <p:cNvSpPr>
            <a:spLocks noGrp="1"/>
          </p:cNvSpPr>
          <p:nvPr>
            <p:ph type="body" sz="quarter" idx="154"/>
          </p:nvPr>
        </p:nvSpPr>
        <p:spPr>
          <a:solidFill>
            <a:srgbClr val="C00000"/>
          </a:solidFill>
        </p:spPr>
        <p:txBody>
          <a:bodyPr/>
          <a:lstStyle/>
          <a:p>
            <a:r>
              <a:rPr lang="en-US" dirty="0">
                <a:solidFill>
                  <a:schemeClr val="bg1"/>
                </a:solidFill>
              </a:rPr>
              <a:t>Experimental Results</a:t>
            </a:r>
          </a:p>
        </p:txBody>
      </p:sp>
      <p:sp>
        <p:nvSpPr>
          <p:cNvPr id="16" name="Text Placeholder 15">
            <a:extLst>
              <a:ext uri="{FF2B5EF4-FFF2-40B4-BE49-F238E27FC236}">
                <a16:creationId xmlns:a16="http://schemas.microsoft.com/office/drawing/2014/main" id="{700095B5-184C-4621-241F-6E501731F4AA}"/>
              </a:ext>
            </a:extLst>
          </p:cNvPr>
          <p:cNvSpPr>
            <a:spLocks noGrp="1"/>
          </p:cNvSpPr>
          <p:nvPr>
            <p:ph type="body" sz="quarter" idx="155"/>
          </p:nvPr>
        </p:nvSpPr>
        <p:spPr>
          <a:xfrm>
            <a:off x="15352776" y="28456128"/>
            <a:ext cx="14301216" cy="7946136"/>
          </a:xfrm>
        </p:spPr>
        <p:txBody>
          <a:bodyPr>
            <a:noAutofit/>
          </a:bodyPr>
          <a:lstStyle/>
          <a:p>
            <a:pPr>
              <a:spcBef>
                <a:spcPts val="0"/>
              </a:spcBef>
              <a:spcAft>
                <a:spcPts val="400"/>
              </a:spcAft>
            </a:pPr>
            <a:r>
              <a:rPr lang="en-US" sz="2800" b="1" dirty="0">
                <a:solidFill>
                  <a:srgbClr val="C00000"/>
                </a:solidFill>
              </a:rPr>
              <a:t>What works</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Substantial agreement: </a:t>
            </a:r>
            <a:r>
              <a:rPr lang="en-US" sz="2800" dirty="0"/>
              <a:t>κ = 0.623, 2.7× the keyword baseline; ρ = 0.900–0.936 per role.</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No qualified candidate lost: </a:t>
            </a:r>
            <a:r>
              <a:rPr lang="en-US" sz="2800" dirty="0"/>
              <a:t>recall 1.000 on “selected” and precision 1.000 on “rejected”; every error was a one-band over-promotion sent to human review.</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Repeatable: </a:t>
            </a:r>
            <a:r>
              <a:rPr lang="en-US" sz="2800" dirty="0"/>
              <a:t>0 of 8 decision flips across 3 trials per pair.</a:t>
            </a:r>
            <a:endParaRPr lang="en-US" sz="2800" dirty="0"/>
          </a:p>
          <a:p>
            <a:pPr>
              <a:spcBef>
                <a:spcPts val="1400"/>
              </a:spcBef>
              <a:spcAft>
                <a:spcPts val="400"/>
              </a:spcAft>
            </a:pPr>
            <a:r>
              <a:rPr lang="en-US" sz="2800" b="1" dirty="0">
                <a:solidFill>
                  <a:srgbClr val="C00000"/>
                </a:solidFill>
              </a:rPr>
              <a:t>Failure modes identified</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Prompt injection: </a:t>
            </a:r>
            <a:r>
              <a:rPr lang="en-US" sz="2800" dirty="0"/>
              <a:t>a forged “SYSTEM:” line moved an unrelated candidate from 0 to 95 (rejected → selected); 2 of 10 attacks succeeded.</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Keyword stuffing: </a:t>
            </a:r>
            <a:r>
              <a:rPr lang="en-US" sz="2800" dirty="0"/>
              <a:t>a padded resume with no experience reached “review” in all 4 roles.</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Wording sensitivity: </a:t>
            </a:r>
            <a:r>
              <a:rPr lang="en-US" sz="2800" dirty="0"/>
              <a:t>7 rewordings of one real resume split between “review” and “rejected” for the same role.</a:t>
            </a:r>
            <a:endParaRPr lang="en-US" sz="2800" dirty="0"/>
          </a:p>
          <a:p>
            <a:pPr marL="457200" indent="-457200">
              <a:spcBef>
                <a:spcPts val="0"/>
              </a:spcBef>
              <a:spcAft>
                <a:spcPts val="1000"/>
              </a:spcAft>
              <a:buFont typeface="Arial" panose="020B0604020202020204" pitchFamily="34" charset="0"/>
              <a:buChar char="•"/>
            </a:pPr>
            <a:r>
              <a:rPr lang="en-US" sz="2800" b="1" dirty="0"/>
              <a:t xml:space="preserve">Silent extraction failure: </a:t>
            </a:r>
            <a:r>
              <a:rPr lang="en-US" sz="2800" dirty="0"/>
              <a:t>all 14 PDFs parsed, but only 78.6% gave usable text; 3 scanned files yielded just 12–108 characters.</a:t>
            </a:r>
            <a:endParaRPr lang="en-US" sz="2800" dirty="0"/>
          </a:p>
        </p:txBody>
      </p:sp>
      <p:pic>
        <p:nvPicPr>
          <p:cNvPr id="18" name="Picture 17">
            <a:extLst>
              <a:ext uri="{FF2B5EF4-FFF2-40B4-BE49-F238E27FC236}">
                <a16:creationId xmlns:a16="http://schemas.microsoft.com/office/drawing/2014/main" id="{0FB54E70-3F09-D332-907A-A69C3F44B9B3}"/>
              </a:ext>
            </a:extLst>
          </p:cNvPr>
          <p:cNvPicPr>
            <a:picLocks noChangeAspect="1"/>
          </p:cNvPicPr>
          <p:nvPr/>
        </p:nvPicPr>
        <p:blipFill>
          <a:blip r:embed="rId2"/>
          <a:stretch>
            <a:fillRect/>
          </a:stretch>
        </p:blipFill>
        <p:spPr>
          <a:xfrm>
            <a:off x="623691" y="1195278"/>
            <a:ext cx="5051364" cy="1859917"/>
          </a:xfrm>
          <a:prstGeom prst="rect">
            <a:avLst/>
          </a:prstGeom>
        </p:spPr>
      </p:pic>
      <p:sp>
        <p:nvSpPr>
          <p:cNvPr id="19" name="Rectangle 18">
            <a:extLst>
              <a:ext uri="{FF2B5EF4-FFF2-40B4-BE49-F238E27FC236}">
                <a16:creationId xmlns:a16="http://schemas.microsoft.com/office/drawing/2014/main" id="{D91D1E30-4CB1-0118-0883-B370DAD87939}"/>
              </a:ext>
            </a:extLst>
          </p:cNvPr>
          <p:cNvSpPr/>
          <p:nvPr/>
        </p:nvSpPr>
        <p:spPr>
          <a:xfrm>
            <a:off x="-1" y="42003496"/>
            <a:ext cx="30275213" cy="800265"/>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Department of Computer Science </a:t>
            </a:r>
            <a:r>
              <a:rPr lang="en-US" sz="3200" b="1">
                <a:solidFill>
                  <a:schemeClr val="tx1"/>
                </a:solidFill>
              </a:rPr>
              <a:t>and Engineering</a:t>
            </a:r>
            <a:endParaRPr lang="en-US" sz="3200" b="1" dirty="0">
              <a:solidFill>
                <a:schemeClr val="tx1"/>
              </a:solidFill>
            </a:endParaRPr>
          </a:p>
        </p:txBody>
      </p:sp>
      <p:grpSp>
        <p:nvGrpSpPr>
          <p:cNvPr id="20" name="Group 19">
            <a:extLst>
              <a:ext uri="{FF2B5EF4-FFF2-40B4-BE49-F238E27FC236}">
                <a16:creationId xmlns:a16="http://schemas.microsoft.com/office/drawing/2014/main" id="{2EA968B0-F23F-1CB8-E525-D45C1F1DD8C8}"/>
              </a:ext>
            </a:extLst>
          </p:cNvPr>
          <p:cNvGrpSpPr/>
          <p:nvPr/>
        </p:nvGrpSpPr>
        <p:grpSpPr>
          <a:xfrm>
            <a:off x="623691" y="5045569"/>
            <a:ext cx="29013394" cy="203459"/>
            <a:chOff x="5297214" y="5869884"/>
            <a:chExt cx="3874494" cy="78971"/>
          </a:xfrm>
        </p:grpSpPr>
        <p:sp>
          <p:nvSpPr>
            <p:cNvPr id="21" name="Rounded Rectangle 20">
              <a:extLst>
                <a:ext uri="{FF2B5EF4-FFF2-40B4-BE49-F238E27FC236}">
                  <a16:creationId xmlns:a16="http://schemas.microsoft.com/office/drawing/2014/main" id="{62A849BB-57EB-3B07-9045-6D992A2C1BB8}"/>
                </a:ext>
              </a:extLst>
            </p:cNvPr>
            <p:cNvSpPr/>
            <p:nvPr/>
          </p:nvSpPr>
          <p:spPr>
            <a:xfrm>
              <a:off x="5297214" y="5875283"/>
              <a:ext cx="798786" cy="73572"/>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b="1"/>
            </a:p>
          </p:txBody>
        </p:sp>
        <p:sp>
          <p:nvSpPr>
            <p:cNvPr id="22" name="Rounded Rectangle 21">
              <a:extLst>
                <a:ext uri="{FF2B5EF4-FFF2-40B4-BE49-F238E27FC236}">
                  <a16:creationId xmlns:a16="http://schemas.microsoft.com/office/drawing/2014/main" id="{96ABFFEB-9857-207A-093B-83A088610716}"/>
                </a:ext>
              </a:extLst>
            </p:cNvPr>
            <p:cNvSpPr/>
            <p:nvPr/>
          </p:nvSpPr>
          <p:spPr>
            <a:xfrm>
              <a:off x="6322450" y="5875283"/>
              <a:ext cx="798786" cy="73572"/>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b="1"/>
            </a:p>
          </p:txBody>
        </p:sp>
        <p:sp>
          <p:nvSpPr>
            <p:cNvPr id="23" name="Rounded Rectangle 22">
              <a:extLst>
                <a:ext uri="{FF2B5EF4-FFF2-40B4-BE49-F238E27FC236}">
                  <a16:creationId xmlns:a16="http://schemas.microsoft.com/office/drawing/2014/main" id="{CABAA8FC-E2ED-F8A9-D777-1432EBA0830F}"/>
                </a:ext>
              </a:extLst>
            </p:cNvPr>
            <p:cNvSpPr/>
            <p:nvPr/>
          </p:nvSpPr>
          <p:spPr>
            <a:xfrm>
              <a:off x="7347686" y="5869884"/>
              <a:ext cx="798786" cy="73572"/>
            </a:xfrm>
            <a:prstGeom prst="round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b="1"/>
            </a:p>
          </p:txBody>
        </p:sp>
        <p:sp>
          <p:nvSpPr>
            <p:cNvPr id="24" name="Rounded Rectangle 23">
              <a:extLst>
                <a:ext uri="{FF2B5EF4-FFF2-40B4-BE49-F238E27FC236}">
                  <a16:creationId xmlns:a16="http://schemas.microsoft.com/office/drawing/2014/main" id="{F92808BA-82AF-3250-3679-A73FE7DAD85C}"/>
                </a:ext>
              </a:extLst>
            </p:cNvPr>
            <p:cNvSpPr/>
            <p:nvPr/>
          </p:nvSpPr>
          <p:spPr>
            <a:xfrm>
              <a:off x="8372922" y="5869884"/>
              <a:ext cx="798786" cy="73572"/>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b="1"/>
            </a:p>
          </p:txBody>
        </p:sp>
      </p:grpSp>
      <p:sp>
        <p:nvSpPr>
          <p:cNvPr id="13" name="TextBox 12">
            <a:extLst>
              <a:ext uri="{FF2B5EF4-FFF2-40B4-BE49-F238E27FC236}">
                <a16:creationId xmlns:a16="http://schemas.microsoft.com/office/drawing/2014/main" id="{9EC58C13-E2F0-38F2-BE1B-7BB99133B9E5}"/>
              </a:ext>
            </a:extLst>
          </p:cNvPr>
          <p:cNvSpPr txBox="1"/>
          <p:nvPr/>
        </p:nvSpPr>
        <p:spPr>
          <a:xfrm>
            <a:off x="2202874" y="4405744"/>
            <a:ext cx="2784764" cy="584775"/>
          </a:xfrm>
          <a:prstGeom prst="rect">
            <a:avLst/>
          </a:prstGeom>
          <a:noFill/>
        </p:spPr>
        <p:txBody>
          <a:bodyPr wrap="square" rtlCol="0">
            <a:spAutoFit/>
          </a:bodyPr>
          <a:lstStyle/>
          <a:p>
            <a:pPr algn="ctr"/>
            <a:r>
              <a:rPr lang="en-US" sz="3200" b="1" dirty="0">
                <a:solidFill>
                  <a:srgbClr val="002060"/>
                </a:solidFill>
              </a:rPr>
              <a:t>COHORT</a:t>
            </a:r>
          </a:p>
        </p:txBody>
      </p:sp>
      <p:sp>
        <p:nvSpPr>
          <p:cNvPr id="17" name="TextBox 16">
            <a:extLst>
              <a:ext uri="{FF2B5EF4-FFF2-40B4-BE49-F238E27FC236}">
                <a16:creationId xmlns:a16="http://schemas.microsoft.com/office/drawing/2014/main" id="{114D8927-421D-132B-30DD-C0DECF1225BE}"/>
              </a:ext>
            </a:extLst>
          </p:cNvPr>
          <p:cNvSpPr txBox="1"/>
          <p:nvPr/>
        </p:nvSpPr>
        <p:spPr>
          <a:xfrm>
            <a:off x="9712038" y="4396253"/>
            <a:ext cx="2784764" cy="584775"/>
          </a:xfrm>
          <a:prstGeom prst="rect">
            <a:avLst/>
          </a:prstGeom>
          <a:noFill/>
        </p:spPr>
        <p:txBody>
          <a:bodyPr wrap="square" rtlCol="0">
            <a:spAutoFit/>
          </a:bodyPr>
          <a:lstStyle/>
          <a:p>
            <a:pPr algn="ctr"/>
            <a:r>
              <a:rPr lang="en-US" sz="3200" b="1" dirty="0">
                <a:solidFill>
                  <a:srgbClr val="002060"/>
                </a:solidFill>
              </a:rPr>
              <a:t>INNOVATION</a:t>
            </a:r>
          </a:p>
        </p:txBody>
      </p:sp>
      <p:sp>
        <p:nvSpPr>
          <p:cNvPr id="25" name="TextBox 24">
            <a:extLst>
              <a:ext uri="{FF2B5EF4-FFF2-40B4-BE49-F238E27FC236}">
                <a16:creationId xmlns:a16="http://schemas.microsoft.com/office/drawing/2014/main" id="{4D3A5CA1-6A1D-A450-A745-A29C2F565D5D}"/>
              </a:ext>
            </a:extLst>
          </p:cNvPr>
          <p:cNvSpPr txBox="1"/>
          <p:nvPr/>
        </p:nvSpPr>
        <p:spPr>
          <a:xfrm>
            <a:off x="17576645" y="4428013"/>
            <a:ext cx="2784764" cy="584775"/>
          </a:xfrm>
          <a:prstGeom prst="rect">
            <a:avLst/>
          </a:prstGeom>
          <a:noFill/>
        </p:spPr>
        <p:txBody>
          <a:bodyPr wrap="square" rtlCol="0">
            <a:spAutoFit/>
          </a:bodyPr>
          <a:lstStyle/>
          <a:p>
            <a:pPr algn="ctr"/>
            <a:r>
              <a:rPr lang="en-US" sz="3200" b="1" dirty="0">
                <a:solidFill>
                  <a:srgbClr val="002060"/>
                </a:solidFill>
              </a:rPr>
              <a:t>RESEARCH</a:t>
            </a:r>
          </a:p>
        </p:txBody>
      </p:sp>
      <p:sp>
        <p:nvSpPr>
          <p:cNvPr id="26" name="TextBox 25">
            <a:extLst>
              <a:ext uri="{FF2B5EF4-FFF2-40B4-BE49-F238E27FC236}">
                <a16:creationId xmlns:a16="http://schemas.microsoft.com/office/drawing/2014/main" id="{6A124A98-D633-909B-F752-74C8912A4A84}"/>
              </a:ext>
            </a:extLst>
          </p:cNvPr>
          <p:cNvSpPr txBox="1"/>
          <p:nvPr/>
        </p:nvSpPr>
        <p:spPr>
          <a:xfrm>
            <a:off x="25176018" y="4414407"/>
            <a:ext cx="2784764" cy="584775"/>
          </a:xfrm>
          <a:prstGeom prst="rect">
            <a:avLst/>
          </a:prstGeom>
          <a:noFill/>
        </p:spPr>
        <p:txBody>
          <a:bodyPr wrap="square" rtlCol="0">
            <a:spAutoFit/>
          </a:bodyPr>
          <a:lstStyle/>
          <a:p>
            <a:pPr algn="ctr"/>
            <a:r>
              <a:rPr lang="en-US" sz="3200" b="1" dirty="0">
                <a:solidFill>
                  <a:srgbClr val="002060"/>
                </a:solidFill>
              </a:rPr>
              <a:t>IMPACT</a:t>
            </a:r>
          </a:p>
        </p:txBody>
      </p:sp>
      <p:pic>
        <p:nvPicPr>
          <p:cNvPr id="40" name="Architecture Diagram" descr="AgentU layered architecture: browser, request gate, route handlers, service layer and database, with Gemini, LinkedIn, SMTP and Google OAuth as external services, each with a fallback."/>
          <p:cNvPicPr>
            <a:picLocks noChangeAspect="1"/>
          </p:cNvPicPr>
          <p:nvPr/>
        </p:nvPicPr>
        <p:blipFill>
          <a:blip r:embed="rId3"/>
          <a:stretch>
            <a:fillRect/>
          </a:stretch>
        </p:blipFill>
        <p:spPr>
          <a:xfrm>
            <a:off x="16605504" y="15156403"/>
            <a:ext cx="11795760" cy="9038621"/>
          </a:xfrm>
          <a:prstGeom prst="rect">
            <a:avLst/>
          </a:prstGeom>
          <a:ln w="12700">
            <a:solidFill>
              <a:srgbClr val="BFBFBF"/>
            </a:solidFill>
          </a:ln>
        </p:spPr>
      </p:pic>
      <p:sp>
        <p:nvSpPr>
          <p:cNvPr id="41" name="Figure Caption"/>
          <p:cNvSpPr txBox="1"/>
          <p:nvPr/>
        </p:nvSpPr>
        <p:spPr>
          <a:xfrm>
            <a:off x="15352776" y="24268176"/>
            <a:ext cx="14301216" cy="502920"/>
          </a:xfrm>
          <a:prstGeom prst="rect">
            <a:avLst/>
          </a:prstGeom>
          <a:noFill/>
        </p:spPr>
        <p:txBody>
          <a:bodyPr wrap="square" lIns="0" tIns="0" rIns="0" bIns="0" rtlCol="0">
            <a:noAutofit/>
          </a:bodyPr>
          <a:lstStyle/>
          <a:p>
            <a:pPr algn="ctr"/>
            <a:r>
              <a:rPr lang="en-US" sz="2200" i="1" dirty="0">
                <a:solidFill>
                  <a:srgbClr val="404040"/>
                </a:solidFill>
                <a:latin typeface="Times New Roman"/>
                <a:cs typeface="Times New Roman"/>
              </a:rPr>
              <a:t>Fig. 1. AgentU layered architecture, with the fallback for each external service</a:t>
            </a:r>
          </a:p>
        </p:txBody>
      </p:sp>
      <p:graphicFrame>
        <p:nvGraphicFramePr>
          <p:cNvPr id="42" name="Results Table" descr="Screening results on 48 job-resume pairs"/>
          <p:cNvGraphicFramePr>
            <a:graphicFrameLocks noGrp="1"/>
          </p:cNvGraphicFramePr>
          <p:nvPr/>
        </p:nvGraphicFramePr>
        <p:xfrm>
          <a:off x="15581376" y="26005536"/>
          <a:ext cx="13844016" cy="2267712"/>
        </p:xfrm>
        <a:graphic>
          <a:graphicData uri="http://schemas.openxmlformats.org/drawingml/2006/table">
            <a:tbl>
              <a:tblPr firstRow="1"/>
              <a:tblGrid>
                <a:gridCol w="4700016"/>
                <a:gridCol w="2286000"/>
                <a:gridCol w="2286000"/>
                <a:gridCol w="2286000"/>
                <a:gridCol w="2286000"/>
              </a:tblGrid>
              <a:tr h="566928">
                <a:tc>
                  <a:txBody>
                    <a:bodyPr/>
                    <a:lstStyle/>
                    <a:p>
                      <a:pPr algn="l"/>
                      <a:r>
                        <a:rPr lang="en-US" sz="2600" b="1" dirty="0">
                          <a:solidFill>
                            <a:srgbClr val="FFFFFF"/>
                          </a:solidFill>
                          <a:latin typeface="Times New Roman"/>
                          <a:cs typeface="Times New Roman"/>
                        </a:rPr>
                        <a:t>Condition</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C00000"/>
                    </a:solidFill>
                  </a:tcPr>
                </a:tc>
                <a:tc>
                  <a:txBody>
                    <a:bodyPr/>
                    <a:lstStyle/>
                    <a:p>
                      <a:pPr algn="ctr"/>
                      <a:r>
                        <a:rPr lang="en-US" sz="2600" b="1" dirty="0">
                          <a:solidFill>
                            <a:srgbClr val="FFFFFF"/>
                          </a:solidFill>
                          <a:latin typeface="Times New Roman"/>
                          <a:cs typeface="Times New Roman"/>
                        </a:rPr>
                        <a:t>Accuracy</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C00000"/>
                    </a:solidFill>
                  </a:tcPr>
                </a:tc>
                <a:tc>
                  <a:txBody>
                    <a:bodyPr/>
                    <a:lstStyle/>
                    <a:p>
                      <a:pPr algn="ctr"/>
                      <a:r>
                        <a:rPr lang="en-US" sz="2600" b="1" dirty="0">
                          <a:solidFill>
                            <a:srgbClr val="FFFFFF"/>
                          </a:solidFill>
                          <a:latin typeface="Times New Roman"/>
                          <a:cs typeface="Times New Roman"/>
                        </a:rPr>
                        <a:t>Macro F1</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C00000"/>
                    </a:solidFill>
                  </a:tcPr>
                </a:tc>
                <a:tc>
                  <a:txBody>
                    <a:bodyPr/>
                    <a:lstStyle/>
                    <a:p>
                      <a:pPr algn="ctr"/>
                      <a:r>
                        <a:rPr lang="en-US" sz="2600" b="1" dirty="0">
                          <a:solidFill>
                            <a:srgbClr val="FFFFFF"/>
                          </a:solidFill>
                          <a:latin typeface="Times New Roman"/>
                          <a:cs typeface="Times New Roman"/>
                        </a:rPr>
                        <a:t>Cohen’s κ</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C00000"/>
                    </a:solidFill>
                  </a:tcPr>
                </a:tc>
                <a:tc>
                  <a:txBody>
                    <a:bodyPr/>
                    <a:lstStyle/>
                    <a:p>
                      <a:pPr algn="ctr"/>
                      <a:r>
                        <a:rPr lang="en-US" sz="2600" b="1" dirty="0">
                          <a:solidFill>
                            <a:srgbClr val="FFFFFF"/>
                          </a:solidFill>
                          <a:latin typeface="Times New Roman"/>
                          <a:cs typeface="Times New Roman"/>
                        </a:rPr>
                        <a:t>Spearman ρ</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C00000"/>
                    </a:solidFill>
                  </a:tcPr>
                </a:tc>
              </a:tr>
              <a:tr h="566928">
                <a:tc>
                  <a:txBody>
                    <a:bodyPr/>
                    <a:lstStyle/>
                    <a:p>
                      <a:pPr algn="l"/>
                      <a:r>
                        <a:rPr lang="en-US" sz="2600" b="1" dirty="0">
                          <a:solidFill>
                            <a:schemeClr val="accent5">
                              <a:lumMod val="50000"/>
                            </a:schemeClr>
                          </a:solidFill>
                          <a:latin typeface="Times New Roman"/>
                          <a:cs typeface="Times New Roman"/>
                        </a:rPr>
                        <a:t>Gemini (AgentU)</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CE4E4"/>
                    </a:solidFill>
                  </a:tcPr>
                </a:tc>
                <a:tc>
                  <a:txBody>
                    <a:bodyPr/>
                    <a:lstStyle/>
                    <a:p>
                      <a:pPr algn="ctr"/>
                      <a:r>
                        <a:rPr lang="en-US" sz="2600" b="1" dirty="0">
                          <a:solidFill>
                            <a:schemeClr val="accent5">
                              <a:lumMod val="50000"/>
                            </a:schemeClr>
                          </a:solidFill>
                          <a:latin typeface="Times New Roman"/>
                          <a:cs typeface="Times New Roman"/>
                        </a:rPr>
                        <a:t>81.3%</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CE4E4"/>
                    </a:solidFill>
                  </a:tcPr>
                </a:tc>
                <a:tc>
                  <a:txBody>
                    <a:bodyPr/>
                    <a:lstStyle/>
                    <a:p>
                      <a:pPr algn="ctr"/>
                      <a:r>
                        <a:rPr lang="en-US" sz="2600" b="1" dirty="0">
                          <a:solidFill>
                            <a:schemeClr val="accent5">
                              <a:lumMod val="50000"/>
                            </a:schemeClr>
                          </a:solidFill>
                          <a:latin typeface="Times New Roman"/>
                          <a:cs typeface="Times New Roman"/>
                        </a:rPr>
                        <a:t>0.740</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CE4E4"/>
                    </a:solidFill>
                  </a:tcPr>
                </a:tc>
                <a:tc>
                  <a:txBody>
                    <a:bodyPr/>
                    <a:lstStyle/>
                    <a:p>
                      <a:pPr algn="ctr"/>
                      <a:r>
                        <a:rPr lang="en-US" sz="2600" b="1" dirty="0">
                          <a:solidFill>
                            <a:schemeClr val="accent5">
                              <a:lumMod val="50000"/>
                            </a:schemeClr>
                          </a:solidFill>
                          <a:latin typeface="Times New Roman"/>
                          <a:cs typeface="Times New Roman"/>
                        </a:rPr>
                        <a:t>0.623</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CE4E4"/>
                    </a:solidFill>
                  </a:tcPr>
                </a:tc>
                <a:tc>
                  <a:txBody>
                    <a:bodyPr/>
                    <a:lstStyle/>
                    <a:p>
                      <a:pPr algn="ctr"/>
                      <a:r>
                        <a:rPr lang="en-US" sz="2600" b="1" dirty="0">
                          <a:solidFill>
                            <a:schemeClr val="accent5">
                              <a:lumMod val="50000"/>
                            </a:schemeClr>
                          </a:solidFill>
                          <a:latin typeface="Times New Roman"/>
                          <a:cs typeface="Times New Roman"/>
                        </a:rPr>
                        <a:t>0.915</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CE4E4"/>
                    </a:solidFill>
                  </a:tcPr>
                </a:tc>
              </a:tr>
              <a:tr h="566928">
                <a:tc>
                  <a:txBody>
                    <a:bodyPr/>
                    <a:lstStyle/>
                    <a:p>
                      <a:pPr algn="l"/>
                      <a:r>
                        <a:rPr lang="en-US" sz="2600" dirty="0">
                          <a:solidFill>
                            <a:schemeClr val="accent5">
                              <a:lumMod val="50000"/>
                            </a:schemeClr>
                          </a:solidFill>
                          <a:latin typeface="Times New Roman"/>
                          <a:cs typeface="Times New Roman"/>
                        </a:rPr>
                        <a:t>Keyword fallback</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72.9%</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0.346</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0.235</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0.756</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r>
              <a:tr h="566928">
                <a:tc>
                  <a:txBody>
                    <a:bodyPr/>
                    <a:lstStyle/>
                    <a:p>
                      <a:pPr algn="l"/>
                      <a:r>
                        <a:rPr lang="en-US" sz="2600" dirty="0">
                          <a:solidFill>
                            <a:schemeClr val="accent5">
                              <a:lumMod val="50000"/>
                            </a:schemeClr>
                          </a:solidFill>
                          <a:latin typeface="Times New Roman"/>
                          <a:cs typeface="Times New Roman"/>
                        </a:rPr>
                        <a:t>Reject-all baseline</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75.0%</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0.286</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0.000</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c>
                  <a:txBody>
                    <a:bodyPr/>
                    <a:lstStyle/>
                    <a:p>
                      <a:pPr algn="ctr"/>
                      <a:r>
                        <a:rPr lang="en-US" sz="2600" dirty="0">
                          <a:solidFill>
                            <a:schemeClr val="accent5">
                              <a:lumMod val="50000"/>
                            </a:schemeClr>
                          </a:solidFill>
                          <a:latin typeface="Times New Roman"/>
                          <a:cs typeface="Times New Roman"/>
                        </a:rPr>
                        <a:t>0.000</a:t>
                      </a:r>
                    </a:p>
                  </a:txBody>
                  <a:tcPr marL="137160" marR="137160" marT="45720" marB="45720" anchor="ctr">
                    <a:lnL w="12700" cap="flat" cmpd="sng" algn="ctr">
                      <a:solidFill>
                        <a:srgbClr val="BFBFBF"/>
                      </a:solidFill>
                      <a:prstDash val="solid"/>
                    </a:lnL>
                    <a:lnR w="12700" cap="flat" cmpd="sng" algn="ctr">
                      <a:solidFill>
                        <a:srgbClr val="BFBFBF"/>
                      </a:solidFill>
                      <a:prstDash val="solid"/>
                    </a:lnR>
                    <a:lnT w="12700" cap="flat" cmpd="sng" algn="ctr">
                      <a:solidFill>
                        <a:srgbClr val="BFBFBF"/>
                      </a:solidFill>
                      <a:prstDash val="solid"/>
                    </a:lnT>
                    <a:lnB w="12700" cap="flat" cmpd="sng" algn="ctr">
                      <a:solidFill>
                        <a:srgbClr val="BFBFBF"/>
                      </a:solidFill>
                      <a:prstDash val="solid"/>
                    </a:lnB>
                    <a:solidFill>
                      <a:srgbClr val="FFFFFF"/>
                    </a:solidFill>
                  </a:tcPr>
                </a:tc>
              </a:tr>
            </a:tbl>
          </a:graphicData>
        </a:graphic>
      </p:graphicFrame>
    </p:spTree>
    <p:extLst>
      <p:ext uri="{BB962C8B-B14F-4D97-AF65-F5344CB8AC3E}">
        <p14:creationId xmlns:p14="http://schemas.microsoft.com/office/powerpoint/2010/main" val="213784311"/>
      </p:ext>
    </p:extLst>
  </p:cSld>
  <p:clrMapOvr>
    <a:masterClrMapping/>
  </p:clrMapOvr>
</p:sld>
</file>

<file path=ppt/theme/theme1.xml><?xml version="1.0" encoding="utf-8"?>
<a:theme xmlns:a="http://schemas.openxmlformats.org/drawingml/2006/main" name="Office Theme">
  <a:themeElements>
    <a:clrScheme name="Yellow">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651</TotalTime>
  <Words>40</Words>
  <Application>Microsoft Office PowerPoint</Application>
  <PresentationFormat>Custom</PresentationFormat>
  <Paragraphs>16</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Times New Roman</vt:lpstr>
      <vt:lpstr>Trebuchet MS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Jagan Mohan Reddy D</dc:creator>
  <cp:lastModifiedBy>Welcome</cp:lastModifiedBy>
  <cp:revision>16</cp:revision>
  <dcterms:created xsi:type="dcterms:W3CDTF">2026-10-01T03:51:11Z</dcterms:created>
  <dcterms:modified xsi:type="dcterms:W3CDTF">2026-10-30T07:28:32Z</dcterms:modified>
</cp:coreProperties>
</file>