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8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9FC"/>
    <a:srgbClr val="F86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1"/>
  </p:normalViewPr>
  <p:slideViewPr>
    <p:cSldViewPr snapToGrid="0">
      <p:cViewPr>
        <p:scale>
          <a:sx n="25" d="100"/>
          <a:sy n="25" d="100"/>
        </p:scale>
        <p:origin x="1358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781CB-E638-AC4E-B8EC-984A76828676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FC2D9-C6F9-D446-8B89-26818FEE0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0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CMx140CM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23691" y="7585962"/>
            <a:ext cx="14299153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36213" y="6884938"/>
            <a:ext cx="1428786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36211" y="18518420"/>
            <a:ext cx="14291358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5353328" y="6884938"/>
            <a:ext cx="14287682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Proposed Methodology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5353328" y="7585962"/>
            <a:ext cx="1428768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629167" y="31830857"/>
            <a:ext cx="1428375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23691" y="32586238"/>
            <a:ext cx="1428923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5364404" y="36583483"/>
            <a:ext cx="14276605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Team Details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5353329" y="37358864"/>
            <a:ext cx="14283756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623691" y="19275662"/>
            <a:ext cx="14300387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76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4090899" y="4110875"/>
            <a:ext cx="22093415" cy="1087559"/>
          </a:xfrm>
          <a:prstGeom prst="rect">
            <a:avLst/>
          </a:prstGeom>
        </p:spPr>
        <p:txBody>
          <a:bodyPr lIns="77349" tIns="38675" rIns="77349" bIns="38675">
            <a:normAutofit/>
          </a:bodyPr>
          <a:lstStyle>
            <a:lvl1pPr marL="0" indent="0" algn="ctr">
              <a:buFontTx/>
              <a:buNone/>
              <a:defRPr sz="540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affiliations</a:t>
            </a:r>
          </a:p>
        </p:txBody>
      </p:sp>
      <p:sp>
        <p:nvSpPr>
          <p:cNvPr id="79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4090899" y="2558463"/>
            <a:ext cx="22093415" cy="1262156"/>
          </a:xfrm>
          <a:prstGeom prst="rect">
            <a:avLst/>
          </a:prstGeom>
        </p:spPr>
        <p:txBody>
          <a:bodyPr lIns="77349" tIns="38675" rIns="77349" bIns="38675" anchor="t" anchorCtr="1">
            <a:noAutofit/>
          </a:bodyPr>
          <a:lstStyle>
            <a:lvl1pPr marL="0" indent="0" algn="ctr">
              <a:buFontTx/>
              <a:buNone/>
              <a:defRPr sz="720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80" name="Text Placeholder 76"/>
          <p:cNvSpPr>
            <a:spLocks noGrp="1"/>
          </p:cNvSpPr>
          <p:nvPr>
            <p:ph type="body" sz="quarter" idx="153" hasCustomPrompt="1"/>
          </p:nvPr>
        </p:nvSpPr>
        <p:spPr>
          <a:xfrm>
            <a:off x="4090899" y="492940"/>
            <a:ext cx="22093415" cy="1775267"/>
          </a:xfrm>
          <a:prstGeom prst="rect">
            <a:avLst/>
          </a:prstGeom>
        </p:spPr>
        <p:txBody>
          <a:bodyPr lIns="77349" tIns="38675" rIns="77349" bIns="38675" anchor="t" anchorCtr="1">
            <a:normAutofit/>
          </a:bodyPr>
          <a:lstStyle>
            <a:lvl1pPr marL="0" indent="0" algn="ctr">
              <a:buFontTx/>
              <a:buNone/>
              <a:defRPr sz="9800" b="1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73CEEE2-ACD9-82CF-397D-77E068323C78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15365848" y="24976035"/>
            <a:ext cx="14291358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Experimental Results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970220D-428D-0519-8D48-7EA76D1EC56E}"/>
              </a:ext>
            </a:extLst>
          </p:cNvPr>
          <p:cNvSpPr>
            <a:spLocks noGrp="1"/>
          </p:cNvSpPr>
          <p:nvPr>
            <p:ph type="body" sz="quarter" idx="155" hasCustomPrompt="1"/>
          </p:nvPr>
        </p:nvSpPr>
        <p:spPr>
          <a:xfrm>
            <a:off x="15353328" y="25733277"/>
            <a:ext cx="14300387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24717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64CC4D-40CA-E106-D750-21DA993E4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948" y="1560456"/>
            <a:ext cx="16067315" cy="20318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BC3F14C-E222-62E8-2CB0-3C8B8424E1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213" y="6884938"/>
            <a:ext cx="1428786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0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5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7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4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0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5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3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5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59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1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0713F-4B5C-AD41-A9C1-0EDA460603E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1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1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FB54E70-3F09-D332-907A-A69C3F44B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91" y="1195278"/>
            <a:ext cx="5051364" cy="185991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91D1E30-4CB1-0118-0883-B370DAD87939}"/>
              </a:ext>
            </a:extLst>
          </p:cNvPr>
          <p:cNvSpPr/>
          <p:nvPr/>
        </p:nvSpPr>
        <p:spPr>
          <a:xfrm>
            <a:off x="-1" y="42003496"/>
            <a:ext cx="30275213" cy="8002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Department of Computer Science </a:t>
            </a:r>
            <a:r>
              <a:rPr lang="en-US" sz="3200" b="1">
                <a:solidFill>
                  <a:schemeClr val="tx1"/>
                </a:solidFill>
              </a:rPr>
              <a:t>and Engineering</a:t>
            </a:r>
            <a:endParaRPr lang="en-US" sz="3200" b="1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A968B0-F23F-1CB8-E525-D45C1F1DD8C8}"/>
              </a:ext>
            </a:extLst>
          </p:cNvPr>
          <p:cNvGrpSpPr/>
          <p:nvPr/>
        </p:nvGrpSpPr>
        <p:grpSpPr>
          <a:xfrm>
            <a:off x="623691" y="5045569"/>
            <a:ext cx="29013394" cy="203459"/>
            <a:chOff x="5297214" y="5869884"/>
            <a:chExt cx="3874494" cy="78971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62A849BB-57EB-3B07-9045-6D992A2C1BB8}"/>
                </a:ext>
              </a:extLst>
            </p:cNvPr>
            <p:cNvSpPr/>
            <p:nvPr/>
          </p:nvSpPr>
          <p:spPr>
            <a:xfrm>
              <a:off x="5297214" y="5875283"/>
              <a:ext cx="798786" cy="73572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6ABFFEB-9857-207A-093B-83A088610716}"/>
                </a:ext>
              </a:extLst>
            </p:cNvPr>
            <p:cNvSpPr/>
            <p:nvPr/>
          </p:nvSpPr>
          <p:spPr>
            <a:xfrm>
              <a:off x="6322450" y="5875283"/>
              <a:ext cx="798786" cy="73572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ABAA8FC-E2ED-F8A9-D777-1432EBA0830F}"/>
                </a:ext>
              </a:extLst>
            </p:cNvPr>
            <p:cNvSpPr/>
            <p:nvPr/>
          </p:nvSpPr>
          <p:spPr>
            <a:xfrm>
              <a:off x="7347686" y="5869884"/>
              <a:ext cx="798786" cy="73572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F92808BA-82AF-3250-3679-A73FE7DAD85C}"/>
                </a:ext>
              </a:extLst>
            </p:cNvPr>
            <p:cNvSpPr/>
            <p:nvPr/>
          </p:nvSpPr>
          <p:spPr>
            <a:xfrm>
              <a:off x="8372922" y="5869884"/>
              <a:ext cx="798786" cy="7357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EC58C13-E2F0-38F2-BE1B-7BB99133B9E5}"/>
              </a:ext>
            </a:extLst>
          </p:cNvPr>
          <p:cNvSpPr txBox="1"/>
          <p:nvPr/>
        </p:nvSpPr>
        <p:spPr>
          <a:xfrm>
            <a:off x="2202874" y="4405744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COHORT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D8927-421D-132B-30DD-C0DECF1225BE}"/>
              </a:ext>
            </a:extLst>
          </p:cNvPr>
          <p:cNvSpPr txBox="1"/>
          <p:nvPr/>
        </p:nvSpPr>
        <p:spPr>
          <a:xfrm>
            <a:off x="9712038" y="4396253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INNOVATION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A5CA1-6A1D-A450-A745-A29C2F565D5D}"/>
              </a:ext>
            </a:extLst>
          </p:cNvPr>
          <p:cNvSpPr txBox="1"/>
          <p:nvPr/>
        </p:nvSpPr>
        <p:spPr>
          <a:xfrm>
            <a:off x="17576645" y="4428013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RESEARCH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124A98-D633-909B-F752-74C8912A4A84}"/>
              </a:ext>
            </a:extLst>
          </p:cNvPr>
          <p:cNvSpPr txBox="1"/>
          <p:nvPr/>
        </p:nvSpPr>
        <p:spPr>
          <a:xfrm>
            <a:off x="25176018" y="4414407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IMPACT</a:t>
            </a:r>
          </a:p>
        </p:txBody>
      </p:sp>
      <p:sp>
        <p:nvSpPr>
          <p:cNvPr id="101" name="Title 101"/>
          <p:cNvSpPr/>
          <p:nvPr/>
        </p:nvSpPr>
        <p:spPr>
          <a:xfrm>
            <a:off x="5760720" y="1051560"/>
            <a:ext cx="2386584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1F2A5A"/>
                </a:solidFill>
                <a:latin typeface="Calibri"/>
                <a:cs typeface="Calibri"/>
              </a:rPr>
              <a:t>AgentU: An Event-Sourced AI Agent for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1F2A5A"/>
                </a:solidFill>
                <a:latin typeface="Calibri"/>
                <a:cs typeface="Calibri"/>
              </a:rPr>
              <a:t>LLM-Assisted Recruitment</a:t>
            </a:r>
          </a:p>
        </p:txBody>
      </p:sp>
      <p:sp>
        <p:nvSpPr>
          <p:cNvPr id="102" name="Subtitle 102"/>
          <p:cNvSpPr/>
          <p:nvPr/>
        </p:nvSpPr>
        <p:spPr>
          <a:xfrm>
            <a:off x="5760720" y="3154680"/>
            <a:ext cx="23865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dirty="0">
                <a:solidFill>
                  <a:srgbClr val="595959"/>
                </a:solidFill>
                <a:latin typeface="Calibri"/>
                <a:cs typeface="Calibri"/>
              </a:rPr>
              <a:t>One recruiter brief becomes a published job and AI-screened applicants, with every screening failure mode measured</a:t>
            </a:r>
          </a:p>
        </p:txBody>
      </p:sp>
      <p:sp>
        <p:nvSpPr>
          <p:cNvPr id="103" name="Pillar 103"/>
          <p:cNvSpPr/>
          <p:nvPr/>
        </p:nvSpPr>
        <p:spPr>
          <a:xfrm>
            <a:off x="256032" y="5358384"/>
            <a:ext cx="671169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dirty="0">
                <a:solidFill>
                  <a:srgbClr val="262626"/>
                </a:solidFill>
                <a:latin typeface="Calibri"/>
                <a:cs typeface="Calibri"/>
              </a:rPr>
              <a:t>B.Tech CSE · Team 23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dirty="0">
                <a:solidFill>
                  <a:srgbClr val="262626"/>
                </a:solidFill>
                <a:latin typeface="Calibri"/>
                <a:cs typeface="Calibri"/>
              </a:rPr>
              <a:t>Data Science and Big Data Analytics</a:t>
            </a:r>
          </a:p>
        </p:txBody>
      </p:sp>
      <p:sp>
        <p:nvSpPr>
          <p:cNvPr id="104" name="Pillar 104"/>
          <p:cNvSpPr/>
          <p:nvPr/>
        </p:nvSpPr>
        <p:spPr>
          <a:xfrm>
            <a:off x="7936992" y="5358384"/>
            <a:ext cx="671169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dirty="0">
                <a:solidFill>
                  <a:srgbClr val="262626"/>
                </a:solidFill>
                <a:latin typeface="Calibri"/>
                <a:cs typeface="Calibri"/>
              </a:rPr>
              <a:t>Event-sourced agent with a rubric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dirty="0">
                <a:solidFill>
                  <a:srgbClr val="262626"/>
                </a:solidFill>
                <a:latin typeface="Calibri"/>
                <a:cs typeface="Calibri"/>
              </a:rPr>
              <a:t>prompt and untrusted-input fencing</a:t>
            </a:r>
          </a:p>
        </p:txBody>
      </p:sp>
      <p:sp>
        <p:nvSpPr>
          <p:cNvPr id="105" name="Pillar 105"/>
          <p:cNvSpPr/>
          <p:nvPr/>
        </p:nvSpPr>
        <p:spPr>
          <a:xfrm>
            <a:off x="15617952" y="5358384"/>
            <a:ext cx="671169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dirty="0">
                <a:solidFill>
                  <a:srgbClr val="262626"/>
                </a:solidFill>
                <a:latin typeface="Calibri"/>
                <a:cs typeface="Calibri"/>
              </a:rPr>
              <a:t>Evaluated on 72 human-labelled pairs,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dirty="0">
                <a:solidFill>
                  <a:srgbClr val="262626"/>
                </a:solidFill>
                <a:latin typeface="Calibri"/>
                <a:cs typeface="Calibri"/>
              </a:rPr>
              <a:t>including a held-out set</a:t>
            </a:r>
          </a:p>
        </p:txBody>
      </p:sp>
      <p:sp>
        <p:nvSpPr>
          <p:cNvPr id="106" name="Pillar 106"/>
          <p:cNvSpPr/>
          <p:nvPr/>
        </p:nvSpPr>
        <p:spPr>
          <a:xfrm>
            <a:off x="23298912" y="5358384"/>
            <a:ext cx="671169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dirty="0">
                <a:solidFill>
                  <a:srgbClr val="262626"/>
                </a:solidFill>
                <a:latin typeface="Calibri"/>
                <a:cs typeface="Calibri"/>
              </a:rPr>
              <a:t>Faster, auditable screening that never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dirty="0">
                <a:solidFill>
                  <a:srgbClr val="262626"/>
                </a:solidFill>
                <a:latin typeface="Calibri"/>
                <a:cs typeface="Calibri"/>
              </a:rPr>
              <a:t>rejected a shortlist-worthy candidate</a:t>
            </a:r>
          </a:p>
        </p:txBody>
      </p:sp>
      <p:sp>
        <p:nvSpPr>
          <p:cNvPr id="107" name="Chip 107"/>
          <p:cNvSpPr/>
          <p:nvPr/>
        </p:nvSpPr>
        <p:spPr>
          <a:xfrm>
            <a:off x="62179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Next.js</a:t>
            </a:r>
          </a:p>
        </p:txBody>
      </p:sp>
      <p:sp>
        <p:nvSpPr>
          <p:cNvPr id="108" name="Chip 108"/>
          <p:cNvSpPr/>
          <p:nvPr/>
        </p:nvSpPr>
        <p:spPr>
          <a:xfrm>
            <a:off x="305638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React</a:t>
            </a:r>
          </a:p>
        </p:txBody>
      </p:sp>
      <p:sp>
        <p:nvSpPr>
          <p:cNvPr id="109" name="Chip 109"/>
          <p:cNvSpPr/>
          <p:nvPr/>
        </p:nvSpPr>
        <p:spPr>
          <a:xfrm>
            <a:off x="549097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TypeScript</a:t>
            </a:r>
          </a:p>
        </p:txBody>
      </p:sp>
      <p:sp>
        <p:nvSpPr>
          <p:cNvPr id="110" name="Chip 110"/>
          <p:cNvSpPr/>
          <p:nvPr/>
        </p:nvSpPr>
        <p:spPr>
          <a:xfrm>
            <a:off x="792556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Node.js</a:t>
            </a:r>
          </a:p>
        </p:txBody>
      </p:sp>
      <p:sp>
        <p:nvSpPr>
          <p:cNvPr id="111" name="Chip 111"/>
          <p:cNvSpPr/>
          <p:nvPr/>
        </p:nvSpPr>
        <p:spPr>
          <a:xfrm>
            <a:off x="1036015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NextAuth</a:t>
            </a:r>
          </a:p>
        </p:txBody>
      </p:sp>
      <p:sp>
        <p:nvSpPr>
          <p:cNvPr id="112" name="Chip 112"/>
          <p:cNvSpPr/>
          <p:nvPr/>
        </p:nvSpPr>
        <p:spPr>
          <a:xfrm>
            <a:off x="1279474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Prisma</a:t>
            </a:r>
          </a:p>
        </p:txBody>
      </p:sp>
      <p:sp>
        <p:nvSpPr>
          <p:cNvPr id="113" name="Chip 113"/>
          <p:cNvSpPr/>
          <p:nvPr/>
        </p:nvSpPr>
        <p:spPr>
          <a:xfrm>
            <a:off x="1522933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MySQL</a:t>
            </a:r>
          </a:p>
        </p:txBody>
      </p:sp>
      <p:sp>
        <p:nvSpPr>
          <p:cNvPr id="114" name="Chip 114"/>
          <p:cNvSpPr/>
          <p:nvPr/>
        </p:nvSpPr>
        <p:spPr>
          <a:xfrm>
            <a:off x="1766392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Google Gemini</a:t>
            </a:r>
          </a:p>
        </p:txBody>
      </p:sp>
      <p:sp>
        <p:nvSpPr>
          <p:cNvPr id="115" name="Chip 115"/>
          <p:cNvSpPr/>
          <p:nvPr/>
        </p:nvSpPr>
        <p:spPr>
          <a:xfrm>
            <a:off x="2009851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Tailwind CSS</a:t>
            </a:r>
          </a:p>
        </p:txBody>
      </p:sp>
      <p:sp>
        <p:nvSpPr>
          <p:cNvPr id="116" name="Chip 116"/>
          <p:cNvSpPr/>
          <p:nvPr/>
        </p:nvSpPr>
        <p:spPr>
          <a:xfrm>
            <a:off x="2253310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Zod</a:t>
            </a:r>
          </a:p>
        </p:txBody>
      </p:sp>
      <p:sp>
        <p:nvSpPr>
          <p:cNvPr id="117" name="Chip 117"/>
          <p:cNvSpPr/>
          <p:nvPr/>
        </p:nvSpPr>
        <p:spPr>
          <a:xfrm>
            <a:off x="2496769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Nodemailer</a:t>
            </a:r>
          </a:p>
        </p:txBody>
      </p:sp>
      <p:sp>
        <p:nvSpPr>
          <p:cNvPr id="118" name="Chip 118"/>
          <p:cNvSpPr/>
          <p:nvPr/>
        </p:nvSpPr>
        <p:spPr>
          <a:xfrm>
            <a:off x="27402282" y="6236208"/>
            <a:ext cx="225171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D1E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A5A"/>
                </a:solidFill>
                <a:latin typeface="Calibri"/>
                <a:cs typeface="Calibri"/>
              </a:rPr>
              <a:t>Vercel</a:t>
            </a:r>
          </a:p>
        </p:txBody>
      </p:sp>
      <p:sp>
        <p:nvSpPr>
          <p:cNvPr id="119" name="Section Header 119"/>
          <p:cNvSpPr/>
          <p:nvPr/>
        </p:nvSpPr>
        <p:spPr>
          <a:xfrm>
            <a:off x="621792" y="7269480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Abstract</a:t>
            </a:r>
          </a:p>
        </p:txBody>
      </p:sp>
      <p:sp>
        <p:nvSpPr>
          <p:cNvPr id="120" name="Abstract 120"/>
          <p:cNvSpPr/>
          <p:nvPr/>
        </p:nvSpPr>
        <p:spPr>
          <a:xfrm>
            <a:off x="694944" y="8183880"/>
            <a:ext cx="14154912" cy="461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dirty="0">
                <a:solidFill>
                  <a:srgbClr val="262626"/>
                </a:solidFill>
                <a:latin typeface="Calibri"/>
                <a:cs typeface="Calibri"/>
              </a:rPr>
              <a:t>Recruiters increasingly hand resume screening to large language models, yet deployed systems rarely report how they fail. AgentU is an AI hiring agent: a recruiter describes a role once, and the agent writes the listing, publishes it on a public careers page, shares it on LinkedIn and other channels, screens every application with Google Gemini, and keeps the recruiter informed through a live activity feed and email. Every step is event-sourced and every external service has a fallback. We evaluated screening on 72 human-labelled job–resume pairs: a rubric prompt reached 91.7% accuracy and κ = 0.781 on held-out pairs, never rejected a candidate a human would shortlist, and blocked all ten prompt-injection attacks.</a:t>
            </a:r>
          </a:p>
        </p:txBody>
      </p:sp>
      <p:sp>
        <p:nvSpPr>
          <p:cNvPr id="121" name="Section Header 121"/>
          <p:cNvSpPr/>
          <p:nvPr/>
        </p:nvSpPr>
        <p:spPr>
          <a:xfrm>
            <a:off x="621792" y="13185648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Objectives</a:t>
            </a:r>
          </a:p>
        </p:txBody>
      </p:sp>
      <p:sp>
        <p:nvSpPr>
          <p:cNvPr id="122" name="Objective Number 122"/>
          <p:cNvSpPr/>
          <p:nvPr/>
        </p:nvSpPr>
        <p:spPr>
          <a:xfrm>
            <a:off x="758952" y="14145768"/>
            <a:ext cx="512064" cy="51206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3" name="Objective 123"/>
          <p:cNvSpPr/>
          <p:nvPr/>
        </p:nvSpPr>
        <p:spPr>
          <a:xfrm>
            <a:off x="1581912" y="14145768"/>
            <a:ext cx="13249656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dirty="0">
                <a:solidFill>
                  <a:srgbClr val="262626"/>
                </a:solidFill>
                <a:latin typeface="Calibri"/>
                <a:cs typeface="Calibri"/>
              </a:rPr>
              <a:t>Automate job publishing and distribution from a single recruiter brief</a:t>
            </a:r>
          </a:p>
        </p:txBody>
      </p:sp>
      <p:sp>
        <p:nvSpPr>
          <p:cNvPr id="124" name="Objective Number 124"/>
          <p:cNvSpPr/>
          <p:nvPr/>
        </p:nvSpPr>
        <p:spPr>
          <a:xfrm>
            <a:off x="758952" y="14913864"/>
            <a:ext cx="512064" cy="5120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25" name="Objective 125"/>
          <p:cNvSpPr/>
          <p:nvPr/>
        </p:nvSpPr>
        <p:spPr>
          <a:xfrm>
            <a:off x="1581912" y="14913864"/>
            <a:ext cx="13249656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dirty="0">
                <a:solidFill>
                  <a:srgbClr val="262626"/>
                </a:solidFill>
                <a:latin typeface="Calibri"/>
                <a:cs typeface="Calibri"/>
              </a:rPr>
              <a:t>Screen every application with Gemini into selected, review or rejected bands</a:t>
            </a:r>
          </a:p>
        </p:txBody>
      </p:sp>
      <p:sp>
        <p:nvSpPr>
          <p:cNvPr id="126" name="Objective Number 126"/>
          <p:cNvSpPr/>
          <p:nvPr/>
        </p:nvSpPr>
        <p:spPr>
          <a:xfrm>
            <a:off x="758952" y="15681960"/>
            <a:ext cx="512064" cy="51206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27" name="Objective 127"/>
          <p:cNvSpPr/>
          <p:nvPr/>
        </p:nvSpPr>
        <p:spPr>
          <a:xfrm>
            <a:off x="1581912" y="15681960"/>
            <a:ext cx="13249656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dirty="0">
                <a:solidFill>
                  <a:srgbClr val="262626"/>
                </a:solidFill>
                <a:latin typeface="Calibri"/>
                <a:cs typeface="Calibri"/>
              </a:rPr>
              <a:t>Record every agent step in an event log shown as a live activity feed</a:t>
            </a:r>
          </a:p>
        </p:txBody>
      </p:sp>
      <p:sp>
        <p:nvSpPr>
          <p:cNvPr id="128" name="Objective Number 128"/>
          <p:cNvSpPr/>
          <p:nvPr/>
        </p:nvSpPr>
        <p:spPr>
          <a:xfrm>
            <a:off x="758952" y="16450056"/>
            <a:ext cx="512064" cy="51206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29" name="Objective 129"/>
          <p:cNvSpPr/>
          <p:nvPr/>
        </p:nvSpPr>
        <p:spPr>
          <a:xfrm>
            <a:off x="1581912" y="16450056"/>
            <a:ext cx="13249656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dirty="0">
                <a:solidFill>
                  <a:srgbClr val="262626"/>
                </a:solidFill>
                <a:latin typeface="Calibri"/>
                <a:cs typeface="Calibri"/>
              </a:rPr>
              <a:t>Keep publishing and applying available when Gemini, LinkedIn or email fail</a:t>
            </a:r>
          </a:p>
        </p:txBody>
      </p:sp>
      <p:sp>
        <p:nvSpPr>
          <p:cNvPr id="130" name="Objective Number 130"/>
          <p:cNvSpPr/>
          <p:nvPr/>
        </p:nvSpPr>
        <p:spPr>
          <a:xfrm>
            <a:off x="758952" y="17218152"/>
            <a:ext cx="512064" cy="512064"/>
          </a:xfrm>
          <a:prstGeom prst="ellipse">
            <a:avLst/>
          </a:prstGeom>
          <a:solidFill>
            <a:srgbClr val="1F2A5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31" name="Objective 131"/>
          <p:cNvSpPr/>
          <p:nvPr/>
        </p:nvSpPr>
        <p:spPr>
          <a:xfrm>
            <a:off x="1581912" y="17218152"/>
            <a:ext cx="13249656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dirty="0">
                <a:solidFill>
                  <a:srgbClr val="262626"/>
                </a:solidFill>
                <a:latin typeface="Calibri"/>
                <a:cs typeface="Calibri"/>
              </a:rPr>
              <a:t>Measure screening quality and failure modes against human-labelled data</a:t>
            </a:r>
          </a:p>
        </p:txBody>
      </p:sp>
      <p:sp>
        <p:nvSpPr>
          <p:cNvPr id="132" name="Section Header 132"/>
          <p:cNvSpPr/>
          <p:nvPr/>
        </p:nvSpPr>
        <p:spPr>
          <a:xfrm>
            <a:off x="621792" y="18114264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Key Innovations</a:t>
            </a:r>
          </a:p>
        </p:txBody>
      </p:sp>
      <p:sp>
        <p:nvSpPr>
          <p:cNvPr id="133" name="Innovation Letter 133"/>
          <p:cNvSpPr/>
          <p:nvPr/>
        </p:nvSpPr>
        <p:spPr>
          <a:xfrm>
            <a:off x="731520" y="19184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</p:txBody>
      </p:sp>
      <p:sp>
        <p:nvSpPr>
          <p:cNvPr id="134" name="Innovation 134"/>
          <p:cNvSpPr/>
          <p:nvPr/>
        </p:nvSpPr>
        <p:spPr>
          <a:xfrm>
            <a:off x="1581912" y="19074384"/>
            <a:ext cx="13249656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600" b="1" dirty="0">
                <a:solidFill>
                  <a:srgbClr val="1F2A5A"/>
                </a:solidFill>
                <a:latin typeface="Calibri"/>
                <a:cs typeface="Calibri"/>
              </a:rPr>
              <a:t>Event-sourced orchestration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262626"/>
                </a:solidFill>
                <a:latin typeface="Calibri"/>
                <a:cs typeface="Calibri"/>
              </a:rPr>
              <a:t>Each agent step appends to an append-only log; the dashboard feed is a projection of it, so work done after the response stays visible</a:t>
            </a:r>
          </a:p>
        </p:txBody>
      </p:sp>
      <p:sp>
        <p:nvSpPr>
          <p:cNvPr id="135" name="Innovation Letter 135"/>
          <p:cNvSpPr/>
          <p:nvPr/>
        </p:nvSpPr>
        <p:spPr>
          <a:xfrm>
            <a:off x="731520" y="20482560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</p:txBody>
      </p:sp>
      <p:sp>
        <p:nvSpPr>
          <p:cNvPr id="136" name="Innovation 136"/>
          <p:cNvSpPr/>
          <p:nvPr/>
        </p:nvSpPr>
        <p:spPr>
          <a:xfrm>
            <a:off x="1581912" y="20372832"/>
            <a:ext cx="13249656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600" b="1" dirty="0">
                <a:solidFill>
                  <a:srgbClr val="1F2A5A"/>
                </a:solidFill>
                <a:latin typeface="Calibri"/>
                <a:cs typeface="Calibri"/>
              </a:rPr>
              <a:t>Degradation-first design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262626"/>
                </a:solidFill>
                <a:latin typeface="Calibri"/>
                <a:cs typeface="Calibri"/>
              </a:rPr>
              <a:t>Gemini, LinkedIn and SMTP each have a documented fallback, so no single outage stops a recruiter publishing or a candidate applying</a:t>
            </a:r>
          </a:p>
        </p:txBody>
      </p:sp>
      <p:sp>
        <p:nvSpPr>
          <p:cNvPr id="137" name="Innovation Letter 137"/>
          <p:cNvSpPr/>
          <p:nvPr/>
        </p:nvSpPr>
        <p:spPr>
          <a:xfrm>
            <a:off x="731520" y="21781008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138" name="Innovation 138"/>
          <p:cNvSpPr/>
          <p:nvPr/>
        </p:nvSpPr>
        <p:spPr>
          <a:xfrm>
            <a:off x="1581912" y="21671280"/>
            <a:ext cx="13249656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600" b="1" dirty="0">
                <a:solidFill>
                  <a:srgbClr val="1F2A5A"/>
                </a:solidFill>
                <a:latin typeface="Calibri"/>
                <a:cs typeface="Calibri"/>
              </a:rPr>
              <a:t>Rubric prompt (v2)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262626"/>
                </a:solidFill>
                <a:latin typeface="Calibri"/>
                <a:cs typeface="Calibri"/>
              </a:rPr>
              <a:t>States what the 40 and 70 decision cutoffs mean and asks for evidence on each requirement before giving a score</a:t>
            </a:r>
          </a:p>
        </p:txBody>
      </p:sp>
      <p:sp>
        <p:nvSpPr>
          <p:cNvPr id="139" name="Innovation Letter 139"/>
          <p:cNvSpPr/>
          <p:nvPr/>
        </p:nvSpPr>
        <p:spPr>
          <a:xfrm>
            <a:off x="731520" y="2307945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92D05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140" name="Innovation 140"/>
          <p:cNvSpPr/>
          <p:nvPr/>
        </p:nvSpPr>
        <p:spPr>
          <a:xfrm>
            <a:off x="1581912" y="22969728"/>
            <a:ext cx="13249656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600" b="1" dirty="0">
                <a:solidFill>
                  <a:srgbClr val="1F2A5A"/>
                </a:solidFill>
                <a:latin typeface="Calibri"/>
                <a:cs typeface="Calibri"/>
              </a:rPr>
              <a:t>Untrusted-input fencing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262626"/>
                </a:solidFill>
                <a:latin typeface="Calibri"/>
                <a:cs typeface="Calibri"/>
              </a:rPr>
              <a:t>Resume text is delimited and stripped of its own markers, so injected instructions are ignored: 0 of 10 attacks succeeded</a:t>
            </a:r>
          </a:p>
        </p:txBody>
      </p:sp>
      <p:sp>
        <p:nvSpPr>
          <p:cNvPr id="141" name="Innovation Letter 141"/>
          <p:cNvSpPr/>
          <p:nvPr/>
        </p:nvSpPr>
        <p:spPr>
          <a:xfrm>
            <a:off x="731520" y="24377904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F2A5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</a:p>
        </p:txBody>
      </p:sp>
      <p:sp>
        <p:nvSpPr>
          <p:cNvPr id="142" name="Innovation 142"/>
          <p:cNvSpPr/>
          <p:nvPr/>
        </p:nvSpPr>
        <p:spPr>
          <a:xfrm>
            <a:off x="1581912" y="24268176"/>
            <a:ext cx="13249656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600" b="1" dirty="0">
                <a:solidFill>
                  <a:srgbClr val="1F2A5A"/>
                </a:solidFill>
                <a:latin typeface="Calibri"/>
                <a:cs typeface="Calibri"/>
              </a:rPr>
              <a:t>Honest evaluation harness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262626"/>
                </a:solidFill>
                <a:latin typeface="Calibri"/>
                <a:cs typeface="Calibri"/>
              </a:rPr>
              <a:t>Measures the production code path; a circuit breaker refuses to report when the model has silently fallen back</a:t>
            </a:r>
          </a:p>
        </p:txBody>
      </p:sp>
      <p:sp>
        <p:nvSpPr>
          <p:cNvPr id="143" name="Section Header 143"/>
          <p:cNvSpPr/>
          <p:nvPr/>
        </p:nvSpPr>
        <p:spPr>
          <a:xfrm>
            <a:off x="621792" y="25859232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Experimental Results</a:t>
            </a:r>
          </a:p>
        </p:txBody>
      </p:sp>
      <p:sp>
        <p:nvSpPr>
          <p:cNvPr id="144" name="Chart Title 144"/>
          <p:cNvSpPr/>
          <p:nvPr/>
        </p:nvSpPr>
        <p:spPr>
          <a:xfrm>
            <a:off x="621792" y="26773632"/>
            <a:ext cx="6903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A5A"/>
                </a:solidFill>
                <a:latin typeface="Calibri"/>
                <a:cs typeface="Calibri"/>
              </a:rPr>
              <a:t>Cohen’s κ on the held-out set (24 pairs)</a:t>
            </a:r>
          </a:p>
        </p:txBody>
      </p:sp>
      <p:sp>
        <p:nvSpPr>
          <p:cNvPr id="145" name="Axis 145"/>
          <p:cNvSpPr/>
          <p:nvPr/>
        </p:nvSpPr>
        <p:spPr>
          <a:xfrm>
            <a:off x="3044952" y="27413712"/>
            <a:ext cx="18288" cy="3694176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46" name="Bar Label 146"/>
          <p:cNvSpPr/>
          <p:nvPr/>
        </p:nvSpPr>
        <p:spPr>
          <a:xfrm>
            <a:off x="621792" y="2755087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Gemini, v2 prompt</a:t>
            </a:r>
          </a:p>
        </p:txBody>
      </p:sp>
      <p:sp>
        <p:nvSpPr>
          <p:cNvPr id="147" name="Bar 147"/>
          <p:cNvSpPr/>
          <p:nvPr/>
        </p:nvSpPr>
        <p:spPr>
          <a:xfrm>
            <a:off x="3063240" y="27550872"/>
            <a:ext cx="2820878" cy="5669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48" name="Bar Value 148"/>
          <p:cNvSpPr/>
          <p:nvPr/>
        </p:nvSpPr>
        <p:spPr>
          <a:xfrm>
            <a:off x="5957270" y="27550872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262626"/>
                </a:solidFill>
                <a:latin typeface="Calibri"/>
                <a:cs typeface="Calibri"/>
              </a:rPr>
              <a:t>0.781</a:t>
            </a:r>
          </a:p>
        </p:txBody>
      </p:sp>
      <p:sp>
        <p:nvSpPr>
          <p:cNvPr id="149" name="Bar Label 149"/>
          <p:cNvSpPr/>
          <p:nvPr/>
        </p:nvSpPr>
        <p:spPr>
          <a:xfrm>
            <a:off x="621792" y="28501848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Gemini, v1 prompt</a:t>
            </a:r>
          </a:p>
        </p:txBody>
      </p:sp>
      <p:sp>
        <p:nvSpPr>
          <p:cNvPr id="150" name="Bar 150"/>
          <p:cNvSpPr/>
          <p:nvPr/>
        </p:nvSpPr>
        <p:spPr>
          <a:xfrm>
            <a:off x="3063240" y="28501848"/>
            <a:ext cx="2510257" cy="566928"/>
          </a:xfrm>
          <a:prstGeom prst="rect">
            <a:avLst/>
          </a:prstGeom>
          <a:solidFill>
            <a:srgbClr val="A5ADC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51" name="Bar Value 151"/>
          <p:cNvSpPr/>
          <p:nvPr/>
        </p:nvSpPr>
        <p:spPr>
          <a:xfrm>
            <a:off x="5646649" y="28501848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0.695</a:t>
            </a:r>
          </a:p>
        </p:txBody>
      </p:sp>
      <p:sp>
        <p:nvSpPr>
          <p:cNvPr id="152" name="Bar Label 152"/>
          <p:cNvSpPr/>
          <p:nvPr/>
        </p:nvSpPr>
        <p:spPr>
          <a:xfrm>
            <a:off x="621792" y="29452824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Keyword fallback</a:t>
            </a:r>
          </a:p>
        </p:txBody>
      </p:sp>
      <p:sp>
        <p:nvSpPr>
          <p:cNvPr id="153" name="Bar 153"/>
          <p:cNvSpPr/>
          <p:nvPr/>
        </p:nvSpPr>
        <p:spPr>
          <a:xfrm>
            <a:off x="3063240" y="29452824"/>
            <a:ext cx="1549497" cy="566928"/>
          </a:xfrm>
          <a:prstGeom prst="rect">
            <a:avLst/>
          </a:prstGeom>
          <a:solidFill>
            <a:srgbClr val="A5ADC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54" name="Bar Value 154"/>
          <p:cNvSpPr/>
          <p:nvPr/>
        </p:nvSpPr>
        <p:spPr>
          <a:xfrm>
            <a:off x="4685889" y="29452824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0.429</a:t>
            </a:r>
          </a:p>
        </p:txBody>
      </p:sp>
      <p:sp>
        <p:nvSpPr>
          <p:cNvPr id="155" name="Bar Label 155"/>
          <p:cNvSpPr/>
          <p:nvPr/>
        </p:nvSpPr>
        <p:spPr>
          <a:xfrm>
            <a:off x="621792" y="30403800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Reject-all baseline</a:t>
            </a:r>
          </a:p>
        </p:txBody>
      </p:sp>
      <p:sp>
        <p:nvSpPr>
          <p:cNvPr id="156" name="Bar Value 156"/>
          <p:cNvSpPr/>
          <p:nvPr/>
        </p:nvSpPr>
        <p:spPr>
          <a:xfrm>
            <a:off x="3136392" y="3040380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0.000</a:t>
            </a:r>
          </a:p>
        </p:txBody>
      </p:sp>
      <p:sp>
        <p:nvSpPr>
          <p:cNvPr id="157" name="Chart Title 157"/>
          <p:cNvSpPr/>
          <p:nvPr/>
        </p:nvSpPr>
        <p:spPr>
          <a:xfrm>
            <a:off x="7936992" y="26773632"/>
            <a:ext cx="698601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A5A"/>
                </a:solidFill>
                <a:latin typeface="Calibri"/>
                <a:cs typeface="Calibri"/>
              </a:rPr>
              <a:t>Prompt v1 vs v2 on the held-out set</a:t>
            </a:r>
          </a:p>
        </p:txBody>
      </p:sp>
      <p:sp>
        <p:nvSpPr>
          <p:cNvPr id="158" name="Axis 158"/>
          <p:cNvSpPr/>
          <p:nvPr/>
        </p:nvSpPr>
        <p:spPr>
          <a:xfrm>
            <a:off x="8028432" y="30614112"/>
            <a:ext cx="6803136" cy="1828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59" name="Column 159"/>
          <p:cNvSpPr/>
          <p:nvPr/>
        </p:nvSpPr>
        <p:spPr>
          <a:xfrm>
            <a:off x="8206740" y="28133802"/>
            <a:ext cx="566928" cy="2480310"/>
          </a:xfrm>
          <a:prstGeom prst="rect">
            <a:avLst/>
          </a:prstGeom>
          <a:solidFill>
            <a:srgbClr val="A5ADC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60" name="Column Value 160"/>
          <p:cNvSpPr/>
          <p:nvPr/>
        </p:nvSpPr>
        <p:spPr>
          <a:xfrm>
            <a:off x="8023860" y="27786330"/>
            <a:ext cx="9326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262626"/>
                </a:solidFill>
                <a:latin typeface="Calibri"/>
                <a:cs typeface="Calibri"/>
              </a:rPr>
              <a:t>0.875</a:t>
            </a:r>
          </a:p>
        </p:txBody>
      </p:sp>
      <p:sp>
        <p:nvSpPr>
          <p:cNvPr id="161" name="Column 161"/>
          <p:cNvSpPr/>
          <p:nvPr/>
        </p:nvSpPr>
        <p:spPr>
          <a:xfrm>
            <a:off x="8846820" y="28014747"/>
            <a:ext cx="566928" cy="25993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62" name="Column Value 162"/>
          <p:cNvSpPr/>
          <p:nvPr/>
        </p:nvSpPr>
        <p:spPr>
          <a:xfrm>
            <a:off x="8663940" y="27667275"/>
            <a:ext cx="9326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62626"/>
                </a:solidFill>
                <a:latin typeface="Calibri"/>
                <a:cs typeface="Calibri"/>
              </a:rPr>
              <a:t>0.917</a:t>
            </a:r>
          </a:p>
        </p:txBody>
      </p:sp>
      <p:sp>
        <p:nvSpPr>
          <p:cNvPr id="163" name="Column Label 163"/>
          <p:cNvSpPr/>
          <p:nvPr/>
        </p:nvSpPr>
        <p:spPr>
          <a:xfrm>
            <a:off x="7936992" y="30687264"/>
            <a:ext cx="174650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Accuracy</a:t>
            </a:r>
          </a:p>
        </p:txBody>
      </p:sp>
      <p:sp>
        <p:nvSpPr>
          <p:cNvPr id="164" name="Column 164"/>
          <p:cNvSpPr/>
          <p:nvPr/>
        </p:nvSpPr>
        <p:spPr>
          <a:xfrm>
            <a:off x="9953244" y="28462620"/>
            <a:ext cx="566928" cy="2151492"/>
          </a:xfrm>
          <a:prstGeom prst="rect">
            <a:avLst/>
          </a:prstGeom>
          <a:solidFill>
            <a:srgbClr val="A5ADC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65" name="Column Value 165"/>
          <p:cNvSpPr/>
          <p:nvPr/>
        </p:nvSpPr>
        <p:spPr>
          <a:xfrm>
            <a:off x="9770364" y="28115148"/>
            <a:ext cx="9326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262626"/>
                </a:solidFill>
                <a:latin typeface="Calibri"/>
                <a:cs typeface="Calibri"/>
              </a:rPr>
              <a:t>0.759</a:t>
            </a:r>
          </a:p>
        </p:txBody>
      </p:sp>
      <p:sp>
        <p:nvSpPr>
          <p:cNvPr id="166" name="Column 166"/>
          <p:cNvSpPr/>
          <p:nvPr/>
        </p:nvSpPr>
        <p:spPr>
          <a:xfrm>
            <a:off x="10593324" y="28309550"/>
            <a:ext cx="566928" cy="23045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67" name="Column Value 167"/>
          <p:cNvSpPr/>
          <p:nvPr/>
        </p:nvSpPr>
        <p:spPr>
          <a:xfrm>
            <a:off x="10410444" y="27962078"/>
            <a:ext cx="9326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62626"/>
                </a:solidFill>
                <a:latin typeface="Calibri"/>
                <a:cs typeface="Calibri"/>
              </a:rPr>
              <a:t>0.813</a:t>
            </a:r>
          </a:p>
        </p:txBody>
      </p:sp>
      <p:sp>
        <p:nvSpPr>
          <p:cNvPr id="168" name="Column Label 168"/>
          <p:cNvSpPr/>
          <p:nvPr/>
        </p:nvSpPr>
        <p:spPr>
          <a:xfrm>
            <a:off x="9683496" y="30687264"/>
            <a:ext cx="174650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Macro F1</a:t>
            </a:r>
          </a:p>
        </p:txBody>
      </p:sp>
      <p:sp>
        <p:nvSpPr>
          <p:cNvPr id="169" name="Column 169"/>
          <p:cNvSpPr/>
          <p:nvPr/>
        </p:nvSpPr>
        <p:spPr>
          <a:xfrm>
            <a:off x="11699748" y="28644037"/>
            <a:ext cx="566928" cy="1970075"/>
          </a:xfrm>
          <a:prstGeom prst="rect">
            <a:avLst/>
          </a:prstGeom>
          <a:solidFill>
            <a:srgbClr val="A5ADC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70" name="Column Value 170"/>
          <p:cNvSpPr/>
          <p:nvPr/>
        </p:nvSpPr>
        <p:spPr>
          <a:xfrm>
            <a:off x="11516868" y="28296565"/>
            <a:ext cx="9326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262626"/>
                </a:solidFill>
                <a:latin typeface="Calibri"/>
                <a:cs typeface="Calibri"/>
              </a:rPr>
              <a:t>0.695</a:t>
            </a:r>
          </a:p>
        </p:txBody>
      </p:sp>
      <p:sp>
        <p:nvSpPr>
          <p:cNvPr id="171" name="Column 171"/>
          <p:cNvSpPr/>
          <p:nvPr/>
        </p:nvSpPr>
        <p:spPr>
          <a:xfrm>
            <a:off x="12339828" y="28400258"/>
            <a:ext cx="566928" cy="221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72" name="Column Value 172"/>
          <p:cNvSpPr/>
          <p:nvPr/>
        </p:nvSpPr>
        <p:spPr>
          <a:xfrm>
            <a:off x="12156948" y="28052786"/>
            <a:ext cx="9326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62626"/>
                </a:solidFill>
                <a:latin typeface="Calibri"/>
                <a:cs typeface="Calibri"/>
              </a:rPr>
              <a:t>0.781</a:t>
            </a:r>
          </a:p>
        </p:txBody>
      </p:sp>
      <p:sp>
        <p:nvSpPr>
          <p:cNvPr id="173" name="Column Label 173"/>
          <p:cNvSpPr/>
          <p:nvPr/>
        </p:nvSpPr>
        <p:spPr>
          <a:xfrm>
            <a:off x="11430000" y="30687264"/>
            <a:ext cx="174650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Cohen’s κ</a:t>
            </a:r>
          </a:p>
        </p:txBody>
      </p:sp>
      <p:sp>
        <p:nvSpPr>
          <p:cNvPr id="174" name="Column 174"/>
          <p:cNvSpPr/>
          <p:nvPr/>
        </p:nvSpPr>
        <p:spPr>
          <a:xfrm>
            <a:off x="13446252" y="28218841"/>
            <a:ext cx="566928" cy="2395271"/>
          </a:xfrm>
          <a:prstGeom prst="rect">
            <a:avLst/>
          </a:prstGeom>
          <a:solidFill>
            <a:srgbClr val="A5ADC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75" name="Column Value 175"/>
          <p:cNvSpPr/>
          <p:nvPr/>
        </p:nvSpPr>
        <p:spPr>
          <a:xfrm>
            <a:off x="13263372" y="27871369"/>
            <a:ext cx="9326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262626"/>
                </a:solidFill>
                <a:latin typeface="Calibri"/>
                <a:cs typeface="Calibri"/>
              </a:rPr>
              <a:t>0.845</a:t>
            </a:r>
          </a:p>
        </p:txBody>
      </p:sp>
      <p:sp>
        <p:nvSpPr>
          <p:cNvPr id="176" name="Column 176"/>
          <p:cNvSpPr/>
          <p:nvPr/>
        </p:nvSpPr>
        <p:spPr>
          <a:xfrm>
            <a:off x="14086332" y="28034590"/>
            <a:ext cx="566928" cy="257952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77" name="Column Value 177"/>
          <p:cNvSpPr/>
          <p:nvPr/>
        </p:nvSpPr>
        <p:spPr>
          <a:xfrm>
            <a:off x="13903452" y="27687118"/>
            <a:ext cx="9326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62626"/>
                </a:solidFill>
                <a:latin typeface="Calibri"/>
                <a:cs typeface="Calibri"/>
              </a:rPr>
              <a:t>0.910</a:t>
            </a:r>
          </a:p>
        </p:txBody>
      </p:sp>
      <p:sp>
        <p:nvSpPr>
          <p:cNvPr id="178" name="Column Label 178"/>
          <p:cNvSpPr/>
          <p:nvPr/>
        </p:nvSpPr>
        <p:spPr>
          <a:xfrm>
            <a:off x="13176504" y="30687264"/>
            <a:ext cx="174650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262626"/>
                </a:solidFill>
                <a:latin typeface="Calibri"/>
                <a:cs typeface="Calibri"/>
              </a:rPr>
              <a:t>Spearman ρ</a:t>
            </a:r>
          </a:p>
        </p:txBody>
      </p:sp>
      <p:sp>
        <p:nvSpPr>
          <p:cNvPr id="179" name="Legend Key 179"/>
          <p:cNvSpPr/>
          <p:nvPr/>
        </p:nvSpPr>
        <p:spPr>
          <a:xfrm>
            <a:off x="9125712" y="31208472"/>
            <a:ext cx="219456" cy="219456"/>
          </a:xfrm>
          <a:prstGeom prst="rect">
            <a:avLst/>
          </a:prstGeom>
          <a:solidFill>
            <a:srgbClr val="A5ADC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80" name="Legend 180"/>
          <p:cNvSpPr/>
          <p:nvPr/>
        </p:nvSpPr>
        <p:spPr>
          <a:xfrm>
            <a:off x="9418320" y="31117032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2626"/>
                </a:solidFill>
                <a:latin typeface="Calibri"/>
                <a:cs typeface="Calibri"/>
              </a:rPr>
              <a:t>Prompt v1</a:t>
            </a:r>
          </a:p>
        </p:txBody>
      </p:sp>
      <p:sp>
        <p:nvSpPr>
          <p:cNvPr id="181" name="Legend Key 181"/>
          <p:cNvSpPr/>
          <p:nvPr/>
        </p:nvSpPr>
        <p:spPr>
          <a:xfrm>
            <a:off x="11503152" y="31208472"/>
            <a:ext cx="219456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82" name="Legend 182"/>
          <p:cNvSpPr/>
          <p:nvPr/>
        </p:nvSpPr>
        <p:spPr>
          <a:xfrm>
            <a:off x="11795760" y="31117032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2626"/>
                </a:solidFill>
                <a:latin typeface="Calibri"/>
                <a:cs typeface="Calibri"/>
              </a:rPr>
              <a:t>Prompt v2 (rubric)</a:t>
            </a:r>
          </a:p>
        </p:txBody>
      </p:sp>
      <p:sp>
        <p:nvSpPr>
          <p:cNvPr id="183" name="Caption 183"/>
          <p:cNvSpPr/>
          <p:nvPr/>
        </p:nvSpPr>
        <p:spPr>
          <a:xfrm>
            <a:off x="694944" y="31574232"/>
            <a:ext cx="1415491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595959"/>
                </a:solidFill>
                <a:latin typeface="Calibri"/>
                <a:cs typeface="Calibri"/>
              </a:rPr>
              <a:t>Held-out pairs were written and labelled before v2 was run. Rejecting everyone already scores 79.2% accuracy here, so κ (agreement beyond chance) is the fairer measure.</a:t>
            </a:r>
          </a:p>
        </p:txBody>
      </p:sp>
      <p:sp>
        <p:nvSpPr>
          <p:cNvPr id="184" name="Section Header 184"/>
          <p:cNvSpPr/>
          <p:nvPr/>
        </p:nvSpPr>
        <p:spPr>
          <a:xfrm>
            <a:off x="621792" y="32598360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Base Paper vs Our Results</a:t>
            </a:r>
          </a:p>
        </p:txBody>
      </p:sp>
      <p:graphicFrame>
        <p:nvGraphicFramePr>
          <p:cNvPr id="185" name="Base Paper Table 185"/>
          <p:cNvGraphicFramePr>
            <a:graphicFrameLocks noGrp="1"/>
          </p:cNvGraphicFramePr>
          <p:nvPr/>
        </p:nvGraphicFramePr>
        <p:xfrm>
          <a:off x="621792" y="33512760"/>
          <a:ext cx="14301216" cy="3438144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5120640"/>
                <a:gridCol w="5522976"/>
              </a:tblGrid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Aspect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1F2A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 et al. [1] (base paper)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1F2A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AgentU (ours)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1F2A5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Screening design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4 agents + RAG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Single call + rubric prompt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Model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GPT-4o, DeepSeek-V3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gemini-3.5-flash-lite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Evaluation data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105 real HR resumes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72 authored pairs (24 held-out)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Spearman ρ vs humans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0.74 (top/bottom 10%)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0.910 (all held-out pairs)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Pearson r vs humans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0.84 (top/bottom 10%)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0.949 (all held-out pairs)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Cohen’s κ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Not reported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0.781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Robustness tests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None reported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Injection, stuffing, wording, PDFs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Caption 186"/>
          <p:cNvSpPr/>
          <p:nvPr/>
        </p:nvSpPr>
        <p:spPr>
          <a:xfrm>
            <a:off x="694944" y="37024056"/>
            <a:ext cx="141549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595959"/>
                </a:solidFill>
                <a:latin typeface="Calibri"/>
                <a:cs typeface="Calibri"/>
              </a:rPr>
              <a:t>Different data and rating scales, so this is a side-by-side, not a head-to-head comparison.</a:t>
            </a:r>
          </a:p>
        </p:txBody>
      </p:sp>
      <p:sp>
        <p:nvSpPr>
          <p:cNvPr id="187" name="Section Header 187"/>
          <p:cNvSpPr/>
          <p:nvPr/>
        </p:nvSpPr>
        <p:spPr>
          <a:xfrm>
            <a:off x="621792" y="37773864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References</a:t>
            </a:r>
          </a:p>
        </p:txBody>
      </p:sp>
      <p:sp>
        <p:nvSpPr>
          <p:cNvPr id="188" name="References 188"/>
          <p:cNvSpPr/>
          <p:nvPr/>
        </p:nvSpPr>
        <p:spPr>
          <a:xfrm>
            <a:off x="694944" y="38688264"/>
            <a:ext cx="14154912" cy="3136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0" dirty="0">
                <a:solidFill>
                  <a:srgbClr val="262626"/>
                </a:solidFill>
                <a:latin typeface="Calibri"/>
                <a:cs typeface="Calibri"/>
              </a:rPr>
              <a:t>[1] F. P.-W. Lo et al., “AI Hiring with LLMs: A Context-Aware and Explainable Multi-Agent Framework for Resume Screening,” CVPR Workshops, 2025.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0" dirty="0">
                <a:solidFill>
                  <a:srgbClr val="262626"/>
                </a:solidFill>
                <a:latin typeface="Calibri"/>
                <a:cs typeface="Calibri"/>
              </a:rPr>
              <a:t>[2] P. Baxi et al., “Prompt Injection in Automated Résumé Screening with Large Language Models,” Findings of ACL, 2026.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0" dirty="0">
                <a:solidFill>
                  <a:srgbClr val="262626"/>
                </a:solidFill>
                <a:latin typeface="Calibri"/>
                <a:cs typeface="Calibri"/>
              </a:rPr>
              <a:t>[3] K. Greshake et al., “Not What You’ve Signed Up For: Compromising Real-World LLM-Integrated Applications with Indirect Prompt Injection,” ACM AISec, 2023.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0" dirty="0">
                <a:solidFill>
                  <a:srgbClr val="262626"/>
                </a:solidFill>
                <a:latin typeface="Calibri"/>
                <a:cs typeface="Calibri"/>
              </a:rPr>
              <a:t>[4] M. Raghavan et al., “Mitigating Bias in Algorithmic Hiring: Evaluating Claims and Practices,” ACM FAccT, 2020.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0" dirty="0">
                <a:solidFill>
                  <a:srgbClr val="262626"/>
                </a:solidFill>
                <a:latin typeface="Calibri"/>
                <a:cs typeface="Calibri"/>
              </a:rPr>
              <a:t>[5] J. Cohen, “A Coefficient of Agreement for Nominal Scales,” Educational and Psychological Measurement, 1960.</a:t>
            </a:r>
          </a:p>
        </p:txBody>
      </p:sp>
      <p:sp>
        <p:nvSpPr>
          <p:cNvPr id="189" name="Section Header 189"/>
          <p:cNvSpPr/>
          <p:nvPr/>
        </p:nvSpPr>
        <p:spPr>
          <a:xfrm>
            <a:off x="15352776" y="7269480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Proposed Methodology / System Architecture</a:t>
            </a:r>
          </a:p>
        </p:txBody>
      </p:sp>
      <p:sp>
        <p:nvSpPr>
          <p:cNvPr id="190" name="Flow Box 190"/>
          <p:cNvSpPr/>
          <p:nvPr/>
        </p:nvSpPr>
        <p:spPr>
          <a:xfrm>
            <a:off x="17730216" y="8257032"/>
            <a:ext cx="9546336" cy="1508760"/>
          </a:xfrm>
          <a:prstGeom prst="roundRect">
            <a:avLst>
              <a:gd name="adj" fmla="val 9000"/>
            </a:avLst>
          </a:prstGeom>
          <a:solidFill>
            <a:srgbClr val="DEEAF6"/>
          </a:solidFill>
          <a:ln w="25400">
            <a:solidFill>
              <a:srgbClr val="2E75B6"/>
            </a:solidFill>
          </a:ln>
        </p:spPr>
        <p:txBody>
          <a:bodyPr wrap="square" lIns="137160" tIns="45720" rIns="13716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700" b="1" dirty="0">
                <a:solidFill>
                  <a:srgbClr val="1F2A5A"/>
                </a:solidFill>
                <a:latin typeface="Calibri"/>
                <a:cs typeface="Calibri"/>
              </a:rPr>
              <a:t>Recruiter Input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Company profile + role brief · candidates upload PDF / DOCX / TXT</a:t>
            </a:r>
          </a:p>
        </p:txBody>
      </p:sp>
      <p:sp>
        <p:nvSpPr>
          <p:cNvPr id="191" name="Arrow 191"/>
          <p:cNvSpPr/>
          <p:nvPr/>
        </p:nvSpPr>
        <p:spPr>
          <a:xfrm>
            <a:off x="22210776" y="9838944"/>
            <a:ext cx="585216" cy="384048"/>
          </a:xfrm>
          <a:prstGeom prst="downArrow">
            <a:avLst/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92" name="Flow Box 192"/>
          <p:cNvSpPr/>
          <p:nvPr/>
        </p:nvSpPr>
        <p:spPr>
          <a:xfrm>
            <a:off x="15352776" y="10296144"/>
            <a:ext cx="6967728" cy="1691640"/>
          </a:xfrm>
          <a:prstGeom prst="roundRect">
            <a:avLst>
              <a:gd name="adj" fmla="val 9000"/>
            </a:avLst>
          </a:prstGeom>
          <a:solidFill>
            <a:srgbClr val="E2F0D9"/>
          </a:solidFill>
          <a:ln w="25400">
            <a:solidFill>
              <a:srgbClr val="70AD47"/>
            </a:solidFill>
          </a:ln>
        </p:spPr>
        <p:txBody>
          <a:bodyPr wrap="square" lIns="137160" tIns="45720" rIns="13716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700" b="1" dirty="0">
                <a:solidFill>
                  <a:srgbClr val="1F2A5A"/>
                </a:solidFill>
                <a:latin typeface="Calibri"/>
                <a:cs typeface="Calibri"/>
              </a:rPr>
              <a:t>Google Gemini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writes listings and scores resumes with rubric prompt v2</a:t>
            </a:r>
          </a:p>
        </p:txBody>
      </p:sp>
      <p:sp>
        <p:nvSpPr>
          <p:cNvPr id="193" name="Flow Box 193"/>
          <p:cNvSpPr/>
          <p:nvPr/>
        </p:nvSpPr>
        <p:spPr>
          <a:xfrm>
            <a:off x="22686264" y="10296144"/>
            <a:ext cx="6967728" cy="169164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txBody>
          <a:bodyPr wrap="square" lIns="137160" tIns="45720" rIns="13716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700" b="1" dirty="0">
                <a:solidFill>
                  <a:srgbClr val="1F2A5A"/>
                </a:solidFill>
                <a:latin typeface="Calibri"/>
                <a:cs typeface="Calibri"/>
              </a:rPr>
              <a:t>Fallback path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keyword scoring and a template listing when Gemini fails</a:t>
            </a:r>
          </a:p>
        </p:txBody>
      </p:sp>
      <p:sp>
        <p:nvSpPr>
          <p:cNvPr id="194" name="Arrow 194"/>
          <p:cNvSpPr/>
          <p:nvPr/>
        </p:nvSpPr>
        <p:spPr>
          <a:xfrm>
            <a:off x="22210776" y="12060936"/>
            <a:ext cx="585216" cy="384048"/>
          </a:xfrm>
          <a:prstGeom prst="downArrow">
            <a:avLst/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95" name="Flow Box 195"/>
          <p:cNvSpPr/>
          <p:nvPr/>
        </p:nvSpPr>
        <p:spPr>
          <a:xfrm>
            <a:off x="15352776" y="12518136"/>
            <a:ext cx="14301216" cy="1508760"/>
          </a:xfrm>
          <a:prstGeom prst="roundRect">
            <a:avLst>
              <a:gd name="adj" fmla="val 9000"/>
            </a:avLst>
          </a:prstGeom>
          <a:solidFill>
            <a:srgbClr val="FBE5E5"/>
          </a:solidFill>
          <a:ln w="25400">
            <a:solidFill>
              <a:srgbClr val="C00000"/>
            </a:solidFill>
          </a:ln>
        </p:spPr>
        <p:txBody>
          <a:bodyPr wrap="square" lIns="137160" tIns="45720" rIns="13716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700" b="1" dirty="0">
                <a:solidFill>
                  <a:srgbClr val="1F2A5A"/>
                </a:solidFill>
                <a:latin typeface="Calibri"/>
                <a:cs typeface="Calibri"/>
              </a:rPr>
              <a:t>HR Agent: event-sourced orchestration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every step appends an AgentEvent; the live feed is a projection of the log</a:t>
            </a:r>
          </a:p>
        </p:txBody>
      </p:sp>
      <p:sp>
        <p:nvSpPr>
          <p:cNvPr id="196" name="Arrow 196"/>
          <p:cNvSpPr/>
          <p:nvPr/>
        </p:nvSpPr>
        <p:spPr>
          <a:xfrm>
            <a:off x="22210776" y="14100048"/>
            <a:ext cx="585216" cy="384048"/>
          </a:xfrm>
          <a:prstGeom prst="downArrow">
            <a:avLst/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197" name="Agent Step 197"/>
          <p:cNvSpPr/>
          <p:nvPr/>
        </p:nvSpPr>
        <p:spPr>
          <a:xfrm>
            <a:off x="15352776" y="14557248"/>
            <a:ext cx="4614672" cy="1188720"/>
          </a:xfrm>
          <a:prstGeom prst="roundRect">
            <a:avLst>
              <a:gd name="adj" fmla="val 9000"/>
            </a:avLst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C000"/>
                </a:solidFill>
                <a:latin typeface="Calibri"/>
                <a:cs typeface="Calibri"/>
              </a:rPr>
              <a:t xml:space="preserve">1  </a:t>
            </a:r>
            <a:r>
              <a:rPr lang="en-US" sz="2700" b="1" dirty="0">
                <a:solidFill>
                  <a:srgbClr val="FFFFFF"/>
                </a:solidFill>
                <a:latin typeface="Calibri"/>
                <a:cs typeface="Calibri"/>
              </a:rPr>
              <a:t>Draft listing</a:t>
            </a:r>
          </a:p>
        </p:txBody>
      </p:sp>
      <p:sp>
        <p:nvSpPr>
          <p:cNvPr id="198" name="Agent Step 198"/>
          <p:cNvSpPr/>
          <p:nvPr/>
        </p:nvSpPr>
        <p:spPr>
          <a:xfrm>
            <a:off x="20196048" y="14557248"/>
            <a:ext cx="4614672" cy="1188720"/>
          </a:xfrm>
          <a:prstGeom prst="roundRect">
            <a:avLst>
              <a:gd name="adj" fmla="val 9000"/>
            </a:avLst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C000"/>
                </a:solidFill>
                <a:latin typeface="Calibri"/>
                <a:cs typeface="Calibri"/>
              </a:rPr>
              <a:t xml:space="preserve">2  </a:t>
            </a:r>
            <a:r>
              <a:rPr lang="en-US" sz="2700" b="1" dirty="0">
                <a:solidFill>
                  <a:srgbClr val="FFFFFF"/>
                </a:solidFill>
                <a:latin typeface="Calibri"/>
                <a:cs typeface="Calibri"/>
              </a:rPr>
              <a:t>Publish page</a:t>
            </a:r>
          </a:p>
        </p:txBody>
      </p:sp>
      <p:sp>
        <p:nvSpPr>
          <p:cNvPr id="199" name="Agent Step 199"/>
          <p:cNvSpPr/>
          <p:nvPr/>
        </p:nvSpPr>
        <p:spPr>
          <a:xfrm>
            <a:off x="25039320" y="14557248"/>
            <a:ext cx="4614672" cy="1188720"/>
          </a:xfrm>
          <a:prstGeom prst="roundRect">
            <a:avLst>
              <a:gd name="adj" fmla="val 9000"/>
            </a:avLst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C000"/>
                </a:solidFill>
                <a:latin typeface="Calibri"/>
                <a:cs typeface="Calibri"/>
              </a:rPr>
              <a:t xml:space="preserve">3  </a:t>
            </a:r>
            <a:r>
              <a:rPr lang="en-US" sz="2700" b="1" dirty="0">
                <a:solidFill>
                  <a:srgbClr val="FFFFFF"/>
                </a:solidFill>
                <a:latin typeface="Calibri"/>
                <a:cs typeface="Calibri"/>
              </a:rPr>
              <a:t>Distribute</a:t>
            </a:r>
          </a:p>
        </p:txBody>
      </p:sp>
      <p:sp>
        <p:nvSpPr>
          <p:cNvPr id="200" name="Agent Step 200"/>
          <p:cNvSpPr/>
          <p:nvPr/>
        </p:nvSpPr>
        <p:spPr>
          <a:xfrm>
            <a:off x="15352776" y="15974568"/>
            <a:ext cx="4614672" cy="1188720"/>
          </a:xfrm>
          <a:prstGeom prst="roundRect">
            <a:avLst>
              <a:gd name="adj" fmla="val 9000"/>
            </a:avLst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C000"/>
                </a:solidFill>
                <a:latin typeface="Calibri"/>
                <a:cs typeface="Calibri"/>
              </a:rPr>
              <a:t xml:space="preserve">4  </a:t>
            </a:r>
            <a:r>
              <a:rPr lang="en-US" sz="2700" b="1" dirty="0">
                <a:solidFill>
                  <a:srgbClr val="FFFFFF"/>
                </a:solidFill>
                <a:latin typeface="Calibri"/>
                <a:cs typeface="Calibri"/>
              </a:rPr>
              <a:t>Screen resumes</a:t>
            </a:r>
          </a:p>
        </p:txBody>
      </p:sp>
      <p:sp>
        <p:nvSpPr>
          <p:cNvPr id="201" name="Agent Step 201"/>
          <p:cNvSpPr/>
          <p:nvPr/>
        </p:nvSpPr>
        <p:spPr>
          <a:xfrm>
            <a:off x="20196048" y="15974568"/>
            <a:ext cx="4614672" cy="1188720"/>
          </a:xfrm>
          <a:prstGeom prst="roundRect">
            <a:avLst>
              <a:gd name="adj" fmla="val 9000"/>
            </a:avLst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C000"/>
                </a:solidFill>
                <a:latin typeface="Calibri"/>
                <a:cs typeface="Calibri"/>
              </a:rPr>
              <a:t xml:space="preserve">5  </a:t>
            </a:r>
            <a:r>
              <a:rPr lang="en-US" sz="2700" b="1" dirty="0">
                <a:solidFill>
                  <a:srgbClr val="FFFFFF"/>
                </a:solidFill>
                <a:latin typeface="Calibri"/>
                <a:cs typeface="Calibri"/>
              </a:rPr>
              <a:t>Notify recruiter</a:t>
            </a:r>
          </a:p>
        </p:txBody>
      </p:sp>
      <p:sp>
        <p:nvSpPr>
          <p:cNvPr id="202" name="Agent Step 202"/>
          <p:cNvSpPr/>
          <p:nvPr/>
        </p:nvSpPr>
        <p:spPr>
          <a:xfrm>
            <a:off x="25039320" y="15974568"/>
            <a:ext cx="4614672" cy="1188720"/>
          </a:xfrm>
          <a:prstGeom prst="roundRect">
            <a:avLst>
              <a:gd name="adj" fmla="val 9000"/>
            </a:avLst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C000"/>
                </a:solidFill>
                <a:latin typeface="Calibri"/>
                <a:cs typeface="Calibri"/>
              </a:rPr>
              <a:t xml:space="preserve">6  </a:t>
            </a:r>
            <a:r>
              <a:rPr lang="en-US" sz="2700" b="1" dirty="0">
                <a:solidFill>
                  <a:srgbClr val="FFFFFF"/>
                </a:solidFill>
                <a:latin typeface="Calibri"/>
                <a:cs typeface="Calibri"/>
              </a:rPr>
              <a:t>Re-score pool</a:t>
            </a:r>
          </a:p>
        </p:txBody>
      </p:sp>
      <p:sp>
        <p:nvSpPr>
          <p:cNvPr id="203" name="Arrow 203"/>
          <p:cNvSpPr/>
          <p:nvPr/>
        </p:nvSpPr>
        <p:spPr>
          <a:xfrm>
            <a:off x="22210776" y="17236440"/>
            <a:ext cx="585216" cy="384048"/>
          </a:xfrm>
          <a:prstGeom prst="downArrow">
            <a:avLst/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204" name="Flow Box 204"/>
          <p:cNvSpPr/>
          <p:nvPr/>
        </p:nvSpPr>
        <p:spPr>
          <a:xfrm>
            <a:off x="15352776" y="17693640"/>
            <a:ext cx="6967728" cy="1691640"/>
          </a:xfrm>
          <a:prstGeom prst="roundRect">
            <a:avLst>
              <a:gd name="adj" fmla="val 9000"/>
            </a:avLst>
          </a:prstGeom>
          <a:solidFill>
            <a:srgbClr val="FBE5E5"/>
          </a:solidFill>
          <a:ln w="25400">
            <a:solidFill>
              <a:srgbClr val="C00000"/>
            </a:solidFill>
          </a:ln>
        </p:spPr>
        <p:txBody>
          <a:bodyPr wrap="square" lIns="137160" tIns="45720" rIns="13716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700" b="1" dirty="0">
                <a:solidFill>
                  <a:srgbClr val="1F2A5A"/>
                </a:solidFill>
                <a:latin typeface="Calibri"/>
                <a:cs typeface="Calibri"/>
              </a:rPr>
              <a:t>Decision bands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≥ 70 selected · 40–69 human review · below 40 rejected</a:t>
            </a:r>
          </a:p>
        </p:txBody>
      </p:sp>
      <p:sp>
        <p:nvSpPr>
          <p:cNvPr id="205" name="Flow Box 205"/>
          <p:cNvSpPr/>
          <p:nvPr/>
        </p:nvSpPr>
        <p:spPr>
          <a:xfrm>
            <a:off x="22686264" y="17693640"/>
            <a:ext cx="6967728" cy="1691640"/>
          </a:xfrm>
          <a:prstGeom prst="roundRect">
            <a:avLst>
              <a:gd name="adj" fmla="val 9000"/>
            </a:avLst>
          </a:prstGeom>
          <a:solidFill>
            <a:srgbClr val="DEEAF6"/>
          </a:solidFill>
          <a:ln w="25400">
            <a:solidFill>
              <a:srgbClr val="2E75B6"/>
            </a:solidFill>
          </a:ln>
        </p:spPr>
        <p:txBody>
          <a:bodyPr wrap="square" lIns="137160" tIns="45720" rIns="13716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700" b="1" dirty="0">
                <a:solidFill>
                  <a:srgbClr val="1F2A5A"/>
                </a:solidFill>
                <a:latin typeface="Calibri"/>
                <a:cs typeface="Calibri"/>
              </a:rPr>
              <a:t>Untrusted-input fencing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resume delimited; injected instructions are ignored</a:t>
            </a:r>
          </a:p>
        </p:txBody>
      </p:sp>
      <p:sp>
        <p:nvSpPr>
          <p:cNvPr id="206" name="Arrow 206"/>
          <p:cNvSpPr/>
          <p:nvPr/>
        </p:nvSpPr>
        <p:spPr>
          <a:xfrm>
            <a:off x="22210776" y="19458432"/>
            <a:ext cx="585216" cy="384048"/>
          </a:xfrm>
          <a:prstGeom prst="downArrow">
            <a:avLst/>
          </a:prstGeom>
          <a:solidFill>
            <a:srgbClr val="1F2A5A"/>
          </a:solidFill>
          <a:ln>
            <a:noFill/>
          </a:ln>
        </p:spPr>
        <p:txBody>
          <a:bodyPr wrap="square" lIns="73152" tIns="36576" rIns="73152" bIns="36576" anchor="t" rtlCol="0">
            <a:noAutofit/>
          </a:bodyPr>
          <a:lstStyle/>
          <a:p>
            <a:endParaRPr lang="en-US"/>
          </a:p>
        </p:txBody>
      </p:sp>
      <p:sp>
        <p:nvSpPr>
          <p:cNvPr id="207" name="Flow Box 207"/>
          <p:cNvSpPr/>
          <p:nvPr/>
        </p:nvSpPr>
        <p:spPr>
          <a:xfrm>
            <a:off x="15352776" y="19915632"/>
            <a:ext cx="14301216" cy="1508760"/>
          </a:xfrm>
          <a:prstGeom prst="roundRect">
            <a:avLst>
              <a:gd name="adj" fmla="val 9000"/>
            </a:avLst>
          </a:prstGeom>
          <a:solidFill>
            <a:srgbClr val="E2F0D9"/>
          </a:solidFill>
          <a:ln w="25400">
            <a:solidFill>
              <a:srgbClr val="70AD47"/>
            </a:solidFill>
          </a:ln>
        </p:spPr>
        <p:txBody>
          <a:bodyPr wrap="square" lIns="137160" tIns="45720" rIns="13716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700" b="1" dirty="0">
                <a:solidFill>
                  <a:srgbClr val="1F2A5A"/>
                </a:solidFill>
                <a:latin typeface="Calibri"/>
                <a:cs typeface="Calibri"/>
              </a:rPr>
              <a:t>Output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Recruiter dashboard · live activity feed · email updates · ranked candidate pipeline</a:t>
            </a:r>
          </a:p>
        </p:txBody>
      </p:sp>
      <p:sp>
        <p:nvSpPr>
          <p:cNvPr id="208" name="Section Header 208"/>
          <p:cNvSpPr/>
          <p:nvPr/>
        </p:nvSpPr>
        <p:spPr>
          <a:xfrm>
            <a:off x="15352776" y="21808440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Failure Modes: Prompt v1 vs v2</a:t>
            </a:r>
          </a:p>
        </p:txBody>
      </p:sp>
      <p:graphicFrame>
        <p:nvGraphicFramePr>
          <p:cNvPr id="209" name="Failure Mode Table 209"/>
          <p:cNvGraphicFramePr>
            <a:graphicFrameLocks noGrp="1"/>
          </p:cNvGraphicFramePr>
          <p:nvPr/>
        </p:nvGraphicFramePr>
        <p:xfrm>
          <a:off x="15352776" y="22722840"/>
          <a:ext cx="14301216" cy="3520440"/>
        </p:xfrm>
        <a:graphic>
          <a:graphicData uri="http://schemas.openxmlformats.org/drawingml/2006/table">
            <a:tbl>
              <a:tblPr firstRow="1" bandRow="1"/>
              <a:tblGrid>
                <a:gridCol w="4206240"/>
                <a:gridCol w="4791456"/>
                <a:gridCol w="265176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1F2A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Measure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1F2A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v1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1F2A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v2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1F2A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Prompt injection (E4)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attacks succeeded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2/10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0/10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Held-out decisions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errors out of 24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Two-band errors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held-out set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Keyword stuffer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roles sent to review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4/4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0/4*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Repetition (E2)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decision flips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0/8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not re-run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Rewording (E3)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decisions for one person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not re-run</a:t>
                      </a:r>
                    </a:p>
                  </a:txBody>
                  <a:tcPr marL="68580" marR="68580" marT="22860" marB="22860" anchor="ctr">
                    <a:lnL w="9525">
                      <a:solidFill>
                        <a:srgbClr val="D9DEE8"/>
                      </a:solidFill>
                    </a:lnL>
                    <a:lnR w="9525">
                      <a:solidFill>
                        <a:srgbClr val="D9DEE8"/>
                      </a:solidFill>
                    </a:lnR>
                    <a:lnT w="9525">
                      <a:solidFill>
                        <a:srgbClr val="D9DEE8"/>
                      </a:solidFill>
                    </a:lnT>
                    <a:lnB w="9525">
                      <a:solidFill>
                        <a:srgbClr val="D9DEE8"/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210" name="Caption 210"/>
          <p:cNvSpPr/>
          <p:nvPr/>
        </p:nvSpPr>
        <p:spPr>
          <a:xfrm>
            <a:off x="15425928" y="26316432"/>
            <a:ext cx="1415491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595959"/>
                </a:solidFill>
                <a:latin typeface="Calibri"/>
                <a:cs typeface="Calibri"/>
              </a:rPr>
              <a:t>* Measured on the 48 pairs v2 was revised against. PDF extraction (78.6% usable text) does not depend on the prompt and was unchanged.</a:t>
            </a:r>
          </a:p>
        </p:txBody>
      </p:sp>
      <p:sp>
        <p:nvSpPr>
          <p:cNvPr id="211" name="Section Header 211"/>
          <p:cNvSpPr/>
          <p:nvPr/>
        </p:nvSpPr>
        <p:spPr>
          <a:xfrm>
            <a:off x="15352776" y="27340560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Results at a Glance</a:t>
            </a:r>
          </a:p>
        </p:txBody>
      </p:sp>
      <p:sp>
        <p:nvSpPr>
          <p:cNvPr id="212" name="Stat Card 212"/>
          <p:cNvSpPr/>
          <p:nvPr/>
        </p:nvSpPr>
        <p:spPr>
          <a:xfrm>
            <a:off x="15352776" y="28254960"/>
            <a:ext cx="3369564" cy="3108960"/>
          </a:xfrm>
          <a:prstGeom prst="roundRect">
            <a:avLst>
              <a:gd name="adj" fmla="val 8000"/>
            </a:avLst>
          </a:prstGeom>
          <a:solidFill>
            <a:srgbClr val="FBE5E5"/>
          </a:solidFill>
          <a:ln>
            <a:noFill/>
          </a:ln>
        </p:spPr>
        <p:txBody>
          <a:bodyPr wrap="square" lIns="137160" tIns="91440" rIns="137160" bIns="9144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5400" b="1" dirty="0">
                <a:solidFill>
                  <a:srgbClr val="C00000"/>
                </a:solidFill>
                <a:latin typeface="Calibri"/>
                <a:cs typeface="Calibri"/>
              </a:rPr>
              <a:t>91.7%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held-out accuracy with prompt v2</a:t>
            </a:r>
          </a:p>
        </p:txBody>
      </p:sp>
      <p:sp>
        <p:nvSpPr>
          <p:cNvPr id="213" name="Stat Card 213"/>
          <p:cNvSpPr/>
          <p:nvPr/>
        </p:nvSpPr>
        <p:spPr>
          <a:xfrm>
            <a:off x="18996660" y="28254960"/>
            <a:ext cx="3369564" cy="31089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</p:spPr>
        <p:txBody>
          <a:bodyPr wrap="square" lIns="137160" tIns="91440" rIns="137160" bIns="9144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5400" b="1" dirty="0">
                <a:solidFill>
                  <a:srgbClr val="C00000"/>
                </a:solidFill>
                <a:latin typeface="Calibri"/>
                <a:cs typeface="Calibri"/>
              </a:rPr>
              <a:t>0/10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injection attacks succeeded (v2)</a:t>
            </a:r>
          </a:p>
        </p:txBody>
      </p:sp>
      <p:sp>
        <p:nvSpPr>
          <p:cNvPr id="214" name="Stat Card 214"/>
          <p:cNvSpPr/>
          <p:nvPr/>
        </p:nvSpPr>
        <p:spPr>
          <a:xfrm>
            <a:off x="22640544" y="28254960"/>
            <a:ext cx="3369564" cy="310896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txBody>
          <a:bodyPr wrap="square" lIns="137160" tIns="91440" rIns="137160" bIns="9144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5400" b="1" dirty="0">
                <a:solidFill>
                  <a:srgbClr val="C00000"/>
                </a:solidFill>
                <a:latin typeface="Calibri"/>
                <a:cs typeface="Calibri"/>
              </a:rPr>
              <a:t>1.000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recall on shortlist-worthy candidates</a:t>
            </a:r>
          </a:p>
        </p:txBody>
      </p:sp>
      <p:sp>
        <p:nvSpPr>
          <p:cNvPr id="215" name="Stat Card 215"/>
          <p:cNvSpPr/>
          <p:nvPr/>
        </p:nvSpPr>
        <p:spPr>
          <a:xfrm>
            <a:off x="26284428" y="28254960"/>
            <a:ext cx="3369564" cy="310896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</p:spPr>
        <p:txBody>
          <a:bodyPr wrap="square" lIns="137160" tIns="91440" rIns="137160" bIns="9144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5400" b="1" dirty="0">
                <a:solidFill>
                  <a:srgbClr val="C00000"/>
                </a:solidFill>
                <a:latin typeface="Calibri"/>
                <a:cs typeface="Calibri"/>
              </a:rPr>
              <a:t>0/8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Calibri"/>
                <a:cs typeface="Calibri"/>
              </a:rPr>
              <a:t>decision flips on repeated runs</a:t>
            </a:r>
          </a:p>
        </p:txBody>
      </p:sp>
      <p:sp>
        <p:nvSpPr>
          <p:cNvPr id="216" name="Section Header 216"/>
          <p:cNvSpPr/>
          <p:nvPr/>
        </p:nvSpPr>
        <p:spPr>
          <a:xfrm>
            <a:off x="15352776" y="31747968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Future Scope</a:t>
            </a:r>
          </a:p>
        </p:txBody>
      </p:sp>
      <p:sp>
        <p:nvSpPr>
          <p:cNvPr id="217" name="Future Card 217"/>
          <p:cNvSpPr/>
          <p:nvPr/>
        </p:nvSpPr>
        <p:spPr>
          <a:xfrm>
            <a:off x="15352776" y="32662368"/>
            <a:ext cx="7013448" cy="2194560"/>
          </a:xfrm>
          <a:prstGeom prst="roundRect">
            <a:avLst>
              <a:gd name="adj" fmla="val 9000"/>
            </a:avLst>
          </a:prstGeom>
          <a:solidFill>
            <a:srgbClr val="FBE5E5"/>
          </a:solidFill>
          <a:ln w="25400">
            <a:solidFill>
              <a:srgbClr val="C00000"/>
            </a:solidFill>
          </a:ln>
        </p:spPr>
        <p:txBody>
          <a:bodyPr wrap="square" lIns="228600" tIns="91440" rIns="228600" bIns="9144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1F2A5A"/>
                </a:solidFill>
                <a:latin typeface="Calibri"/>
                <a:cs typeface="Calibri"/>
              </a:rPr>
              <a:t>Visible degradation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262626"/>
                </a:solidFill>
                <a:latin typeface="Calibri"/>
                <a:cs typeface="Calibri"/>
              </a:rPr>
              <a:t>Flag keyword-scored applications in the feed and email</a:t>
            </a:r>
          </a:p>
        </p:txBody>
      </p:sp>
      <p:sp>
        <p:nvSpPr>
          <p:cNvPr id="218" name="Future Card 218"/>
          <p:cNvSpPr/>
          <p:nvPr/>
        </p:nvSpPr>
        <p:spPr>
          <a:xfrm>
            <a:off x="22640544" y="32662368"/>
            <a:ext cx="7013448" cy="2194560"/>
          </a:xfrm>
          <a:prstGeom prst="roundRect">
            <a:avLst>
              <a:gd name="adj" fmla="val 9000"/>
            </a:avLst>
          </a:prstGeom>
          <a:solidFill>
            <a:srgbClr val="DEEAF6"/>
          </a:solidFill>
          <a:ln w="25400">
            <a:solidFill>
              <a:srgbClr val="2E75B6"/>
            </a:solidFill>
          </a:ln>
        </p:spPr>
        <p:txBody>
          <a:bodyPr wrap="square" lIns="228600" tIns="91440" rIns="228600" bIns="9144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1F2A5A"/>
                </a:solidFill>
                <a:latin typeface="Calibri"/>
                <a:cs typeface="Calibri"/>
              </a:rPr>
              <a:t>Scanned resumes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262626"/>
                </a:solidFill>
                <a:latin typeface="Calibri"/>
                <a:cs typeface="Calibri"/>
              </a:rPr>
              <a:t>Add OCR and a minimum-text check before scoring</a:t>
            </a:r>
          </a:p>
        </p:txBody>
      </p:sp>
      <p:sp>
        <p:nvSpPr>
          <p:cNvPr id="219" name="Future Card 219"/>
          <p:cNvSpPr/>
          <p:nvPr/>
        </p:nvSpPr>
        <p:spPr>
          <a:xfrm>
            <a:off x="15352776" y="35131248"/>
            <a:ext cx="7013448" cy="219456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txBody>
          <a:bodyPr wrap="square" lIns="228600" tIns="91440" rIns="228600" bIns="9144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1F2A5A"/>
                </a:solidFill>
                <a:latin typeface="Calibri"/>
                <a:cs typeface="Calibri"/>
              </a:rPr>
              <a:t>Fairness audit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262626"/>
                </a:solidFill>
                <a:latin typeface="Calibri"/>
                <a:cs typeface="Calibri"/>
              </a:rPr>
              <a:t>Matched resumes that differ only in protected attributes</a:t>
            </a:r>
          </a:p>
        </p:txBody>
      </p:sp>
      <p:sp>
        <p:nvSpPr>
          <p:cNvPr id="220" name="Future Card 220"/>
          <p:cNvSpPr/>
          <p:nvPr/>
        </p:nvSpPr>
        <p:spPr>
          <a:xfrm>
            <a:off x="22640544" y="35131248"/>
            <a:ext cx="7013448" cy="2194560"/>
          </a:xfrm>
          <a:prstGeom prst="roundRect">
            <a:avLst>
              <a:gd name="adj" fmla="val 9000"/>
            </a:avLst>
          </a:prstGeom>
          <a:solidFill>
            <a:srgbClr val="E2F0D9"/>
          </a:solidFill>
          <a:ln w="25400">
            <a:solidFill>
              <a:srgbClr val="70AD47"/>
            </a:solidFill>
          </a:ln>
        </p:spPr>
        <p:txBody>
          <a:bodyPr wrap="square" lIns="228600" tIns="91440" rIns="228600" bIns="9144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1F2A5A"/>
                </a:solidFill>
                <a:latin typeface="Calibri"/>
                <a:cs typeface="Calibri"/>
              </a:rPr>
              <a:t>Larger evaluation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262626"/>
                </a:solidFill>
                <a:latin typeface="Calibri"/>
                <a:cs typeface="Calibri"/>
              </a:rPr>
              <a:t>Real anonymised resumes, a second annotator, adaptive attacks</a:t>
            </a:r>
          </a:p>
        </p:txBody>
      </p:sp>
      <p:sp>
        <p:nvSpPr>
          <p:cNvPr id="221" name="Section Header 221"/>
          <p:cNvSpPr/>
          <p:nvPr/>
        </p:nvSpPr>
        <p:spPr>
          <a:xfrm>
            <a:off x="15352776" y="37709856"/>
            <a:ext cx="14301216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Team Details</a:t>
            </a:r>
          </a:p>
        </p:txBody>
      </p:sp>
      <p:sp>
        <p:nvSpPr>
          <p:cNvPr id="222" name="Team Details 222"/>
          <p:cNvSpPr/>
          <p:nvPr/>
        </p:nvSpPr>
        <p:spPr>
          <a:xfrm>
            <a:off x="15425928" y="38624256"/>
            <a:ext cx="14154912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F2A5A"/>
                </a:solidFill>
                <a:latin typeface="Calibri"/>
                <a:cs typeface="Calibri"/>
              </a:rPr>
              <a:t xml:space="preserve">Guide: </a:t>
            </a:r>
            <a:r>
              <a:rPr lang="en-US" sz="2700" b="0" dirty="0">
                <a:solidFill>
                  <a:srgbClr val="262626"/>
                </a:solidFill>
                <a:latin typeface="Calibri"/>
                <a:cs typeface="Calibri"/>
              </a:rPr>
              <a:t>N Sirisha, Assistant Professor, Department of CSE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700" b="1" dirty="0">
                <a:solidFill>
                  <a:srgbClr val="1F2A5A"/>
                </a:solidFill>
                <a:latin typeface="Calibri"/>
                <a:cs typeface="Calibri"/>
              </a:rPr>
              <a:t>Team Members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700" b="0" dirty="0">
                <a:solidFill>
                  <a:srgbClr val="262626"/>
                </a:solidFill>
                <a:latin typeface="Calibri"/>
                <a:cs typeface="Calibri"/>
              </a:rPr>
              <a:t>2320030018 – M G K Gowtham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700" b="0" dirty="0">
                <a:solidFill>
                  <a:srgbClr val="262626"/>
                </a:solidFill>
                <a:latin typeface="Calibri"/>
                <a:cs typeface="Calibri"/>
              </a:rPr>
              <a:t>2320030016 – V Balaji Naidu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dirty="0">
                <a:solidFill>
                  <a:srgbClr val="262626"/>
                </a:solidFill>
                <a:latin typeface="Calibri"/>
                <a:cs typeface="Calibri"/>
              </a:rPr>
              <a:t>2320030004 – Dodla Hemanth Raj</a:t>
            </a:r>
          </a:p>
        </p:txBody>
      </p:sp>
    </p:spTree>
    <p:extLst>
      <p:ext uri="{BB962C8B-B14F-4D97-AF65-F5344CB8AC3E}">
        <p14:creationId xmlns:p14="http://schemas.microsoft.com/office/powerpoint/2010/main" val="213784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651</TotalTime>
  <Words>40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Jagan Mohan Reddy D</dc:creator>
  <cp:lastModifiedBy>Welcome</cp:lastModifiedBy>
  <cp:revision>16</cp:revision>
  <dcterms:created xsi:type="dcterms:W3CDTF">2026-10-01T03:51:11Z</dcterms:created>
  <dcterms:modified xsi:type="dcterms:W3CDTF">2026-10-30T07:28:32Z</dcterms:modified>
</cp:coreProperties>
</file>